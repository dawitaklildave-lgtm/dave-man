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56" r:id="rId2"/>
    <p:sldId id="335" r:id="rId3"/>
    <p:sldId id="336" r:id="rId4"/>
    <p:sldId id="319" r:id="rId5"/>
    <p:sldId id="320" r:id="rId6"/>
    <p:sldId id="339" r:id="rId7"/>
    <p:sldId id="321" r:id="rId8"/>
    <p:sldId id="340" r:id="rId9"/>
    <p:sldId id="341" r:id="rId10"/>
    <p:sldId id="342" r:id="rId11"/>
    <p:sldId id="322" r:id="rId12"/>
    <p:sldId id="323" r:id="rId13"/>
    <p:sldId id="324" r:id="rId14"/>
    <p:sldId id="344" r:id="rId15"/>
    <p:sldId id="345" r:id="rId16"/>
    <p:sldId id="346" r:id="rId17"/>
    <p:sldId id="347" r:id="rId18"/>
    <p:sldId id="275" r:id="rId19"/>
    <p:sldId id="329" r:id="rId20"/>
    <p:sldId id="330" r:id="rId21"/>
    <p:sldId id="314" r:id="rId22"/>
    <p:sldId id="315" r:id="rId23"/>
    <p:sldId id="316" r:id="rId24"/>
    <p:sldId id="317" r:id="rId25"/>
    <p:sldId id="276" r:id="rId26"/>
    <p:sldId id="277" r:id="rId27"/>
    <p:sldId id="278" r:id="rId28"/>
    <p:sldId id="284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310" r:id="rId37"/>
    <p:sldId id="312" r:id="rId38"/>
    <p:sldId id="313" r:id="rId39"/>
    <p:sldId id="292" r:id="rId40"/>
  </p:sldIdLst>
  <p:sldSz cx="9144000" cy="6858000" type="screen4x3"/>
  <p:notesSz cx="9313863" cy="7027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0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6007" cy="351393"/>
          </a:xfrm>
          <a:prstGeom prst="rect">
            <a:avLst/>
          </a:prstGeom>
        </p:spPr>
        <p:txBody>
          <a:bodyPr vert="horz" lIns="93379" tIns="46689" rIns="93379" bIns="46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5701" y="0"/>
            <a:ext cx="4036007" cy="351393"/>
          </a:xfrm>
          <a:prstGeom prst="rect">
            <a:avLst/>
          </a:prstGeom>
        </p:spPr>
        <p:txBody>
          <a:bodyPr vert="horz" lIns="93379" tIns="46689" rIns="93379" bIns="46689" rtlCol="0"/>
          <a:lstStyle>
            <a:lvl1pPr algn="r">
              <a:defRPr sz="1200"/>
            </a:lvl1pPr>
          </a:lstStyle>
          <a:p>
            <a:fld id="{97D2CBF2-259D-419F-A917-3BB2CD6FC606}" type="datetimeFigureOut">
              <a:rPr lang="en-US" smtClean="0"/>
              <a:pPr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527050"/>
            <a:ext cx="3513137" cy="2635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79" tIns="46689" rIns="93379" bIns="466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1387" y="3338235"/>
            <a:ext cx="7451090" cy="3162538"/>
          </a:xfrm>
          <a:prstGeom prst="rect">
            <a:avLst/>
          </a:prstGeom>
        </p:spPr>
        <p:txBody>
          <a:bodyPr vert="horz" lIns="93379" tIns="46689" rIns="93379" bIns="466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75250"/>
            <a:ext cx="4036007" cy="351393"/>
          </a:xfrm>
          <a:prstGeom prst="rect">
            <a:avLst/>
          </a:prstGeom>
        </p:spPr>
        <p:txBody>
          <a:bodyPr vert="horz" lIns="93379" tIns="46689" rIns="93379" bIns="46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5701" y="6675250"/>
            <a:ext cx="4036007" cy="351393"/>
          </a:xfrm>
          <a:prstGeom prst="rect">
            <a:avLst/>
          </a:prstGeom>
        </p:spPr>
        <p:txBody>
          <a:bodyPr vert="horz" lIns="93379" tIns="46689" rIns="93379" bIns="46689" rtlCol="0" anchor="b"/>
          <a:lstStyle>
            <a:lvl1pPr algn="r">
              <a:defRPr sz="1200"/>
            </a:lvl1pPr>
          </a:lstStyle>
          <a:p>
            <a:fld id="{85B8DC6F-CE0F-455F-B803-C75D0F2AE4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2801-C72F-4A58-AEEC-0F686700C7B5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8C23A-D07E-44A8-B4A9-E0F1B59AD50F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4E6B-5698-4EBD-BECF-421F7C3FE080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8D791-E922-4C8D-92D8-382FFD5FA9C5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B6310-D562-481A-BD24-8429260C94BE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46B88-0768-4A39-BE93-942751CA47E9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9B90-A22E-44FF-B630-8ECCE3A437A8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64605-B368-400A-A3AD-2F7245EA7537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DE431-A9AA-4CEF-8A7C-C74BAD278B72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09BE5-BFE8-4275-A960-EEC7DCEB15CA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15AA-1928-4C5E-924A-A406795915D0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184C7-65E3-4B1C-AB6F-F71975A48754}" type="datetime1">
              <a:rPr lang="en-US" smtClean="0"/>
              <a:pPr/>
              <a:t>4/1/2024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419E2-E042-4E12-BA1C-74A056E165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0"/>
            <a:ext cx="7772400" cy="1470025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Chapter Five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Exception Handling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57912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Exception handling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enables a program to deal with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exceptional situations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 continue its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normal execution.</a:t>
            </a:r>
          </a:p>
          <a:p>
            <a:pPr algn="just"/>
            <a:endParaRPr lang="en-US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Runtime errors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 while a program is running if the JVM detects an operation that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impossible to carry out.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 example, if you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access an array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using 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that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 of bounds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you will get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runtime error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ArrayIndexOutOfBoundsException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you enter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value when your program expects 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integer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you will get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runtime error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 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InputMismatchException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 Java,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runtime errors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thrown as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an object that represents 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or a condition that prevents execution from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proceeding normally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the exception is not handled, the program will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terminate abnormally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Example 1: Runtime Errors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057400"/>
            <a:ext cx="8686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57200" y="1066800"/>
            <a:ext cx="335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This program generates 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InputMismatchException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error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when reading an input.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Catch Runtime Errors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019175"/>
            <a:ext cx="8610600" cy="576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5638800" y="685800"/>
            <a:ext cx="3429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program handles/catches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InputMismatchException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error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when reading an input.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Catch Runtime Errors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When executing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input.nextInt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(line 11), 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InputMismatchException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occurs if the input entered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 an integer,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suppose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3.5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entered.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InputMismatchException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occurs and the control is transferred to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catch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statements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catch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are now executed.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statement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input.nextLine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(line 22) discards the current input line so that the user can enter a new line of input.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variable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continueInput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controls the loop.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Its initial value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true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(line 6), and it is changed to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false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(line 17) when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valid input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received.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Once a valid input is received, there is no need to continue the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Exception Classes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538" y="1143000"/>
            <a:ext cx="89249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Exception Classes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/>
          <a:lstStyle/>
          <a:p>
            <a:pPr algn="just"/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are defined using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i="1" dirty="0">
                <a:latin typeface="Times New Roman" pitchFamily="18" charset="0"/>
                <a:cs typeface="Times New Roman" pitchFamily="18" charset="0"/>
              </a:rPr>
              <a:t>The root class for exceptions is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java.lang.Throwable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many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predefined 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classes in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Java 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See the previous Figure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Exception Classes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6388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Throwable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 is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root of exception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classes.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Java exception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classes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inherit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directly or indirectly from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Throwable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 classes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be classified into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major types: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system errors,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exceptions, and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runtime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Exception Types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>
            <a:normAutofit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 errors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thrown by the JVM and are represented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Error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represented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class, which describes errors caused by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your program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external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circumstances.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Runtime exceptions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represented in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RuntimeException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class, which describes programming errors, such as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bad casting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accessing 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out-of-bounds array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numeric errors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Runtime exceptions are generally thrown by the JVM.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System Errors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5" y="1066800"/>
            <a:ext cx="8886825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0" y="4191000"/>
            <a:ext cx="2667000" cy="259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i="1" dirty="0">
                <a:latin typeface="Times New Roman" pitchFamily="18" charset="0"/>
                <a:cs typeface="Times New Roman" pitchFamily="18" charset="0"/>
              </a:rPr>
              <a:t>System errors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are thrown by JVM and represented in the </a:t>
            </a:r>
            <a:r>
              <a:rPr lang="en-US" sz="1600" u="sng" dirty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class. The </a:t>
            </a:r>
            <a:r>
              <a:rPr lang="en-US" sz="1600" u="sng" dirty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class describes internal system errors. Such errors rarely occur. If one does, there is little you can do beyond notifying the user and trying to terminate the program gracefully.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Exceptions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" y="1200150"/>
            <a:ext cx="889635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52400" y="1473875"/>
            <a:ext cx="236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u="sng" dirty="0">
                <a:latin typeface="Times New Roman" pitchFamily="18" charset="0"/>
                <a:cs typeface="Times New Roman" pitchFamily="18" charset="0"/>
              </a:rPr>
              <a:t>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describes errors caused by your program and external circumstances. These errors can be caught and handled by your program.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Runtime Exceptions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1066800"/>
            <a:ext cx="89154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324600" y="4800600"/>
            <a:ext cx="259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RuntimeException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caused by programming errors, such as bad casting, accessing an out-of-bounds array, and numeric errors.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FB32-D5AA-496F-8F9F-6C8208F3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throws and throw</a:t>
            </a:r>
            <a:br>
              <a:rPr lang="en-US" b="0" i="0" dirty="0">
                <a:solidFill>
                  <a:srgbClr val="000000"/>
                </a:solidFill>
                <a:effectLst/>
                <a:latin typeface="var(--ff-lato)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BC964-EB63-4E1A-976D-2B485891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 method does not handle an exception the method must declare it using the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keyword. 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throws keyword appears at the end of a method's signature.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throw an exception, either a newly instantiated one or an exception that you just caught, by using the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keyword.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used to  handling of an exception </a:t>
            </a:r>
          </a:p>
          <a:p>
            <a:pPr algn="l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used to invoke an exception explicitly.</a:t>
            </a:r>
          </a:p>
          <a:p>
            <a:pPr marL="0" indent="0" algn="l">
              <a:buNone/>
            </a:pP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6573D-E8A3-463E-8173-C1308AC4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8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38AA-89A8-44E3-B889-13CF12899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throws and throw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E92B7-FFE0-4000-9A58-698997A58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var(--ff-lato)"/>
              </a:rPr>
              <a:t> Syntax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Following is the syntax of throwing an exception using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(parameters)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exception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2400" b="0" i="0" dirty="0">
                <a:solidFill>
                  <a:srgbClr val="9999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Method implementation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E3AA7-B314-490D-A5F7-D1F1701F5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91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E5C7-329D-4133-8DD9-371E80F0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ar(--ff-lato)"/>
              </a:rPr>
              <a:t>Java Throws and Throw Example</a:t>
            </a:r>
            <a:br>
              <a:rPr lang="en-US" b="0" i="0" dirty="0">
                <a:solidFill>
                  <a:srgbClr val="000000"/>
                </a:solidFill>
                <a:effectLst/>
                <a:latin typeface="var(--ff-lato)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25AB1-A6D6-4725-965B-C11635EAC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305800" cy="4830763"/>
          </a:xfrm>
        </p:spPr>
        <p:txBody>
          <a:bodyPr>
            <a:normAutofit fontScale="62500" lnSpcReduction="2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Following example shows the use of throw keyword to send an exception in case a invalid argument is passed.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ExcepTest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  <a:b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[])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int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Try{</a:t>
            </a:r>
          </a:p>
          <a:p>
            <a:pPr marL="0" indent="0">
              <a:buNone/>
            </a:pPr>
            <a:r>
              <a:rPr lang="en-US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.out.</a:t>
            </a:r>
            <a:r>
              <a:rPr lang="en-US" b="0" i="0" dirty="0" err="1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>
                <a:solidFill>
                  <a:srgbClr val="7EC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"result:"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 }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Catch(</a:t>
            </a:r>
            <a:r>
              <a:rPr lang="en-US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IllegalArgumentException</a:t>
            </a:r>
            <a:r>
              <a:rPr lang="en-US" b="0" i="0" dirty="0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(“exception is </a:t>
            </a:r>
            <a:r>
              <a:rPr lang="en-US" dirty="0" err="1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handeled</a:t>
            </a:r>
            <a:r>
              <a:rPr lang="en-US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”+e);</a:t>
            </a:r>
            <a:endParaRPr lang="en-US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CCCC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b) {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 </a:t>
            </a:r>
            <a:r>
              <a:rPr lang="en-US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{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IllegalArgumentException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>
                <a:solidFill>
                  <a:srgbClr val="7EC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"second argument cannot be zero."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}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b; } 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FDBE2-F9D5-40BD-B904-EED01463B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16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21C6-6B68-45EC-A660-F2D7A846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3252"/>
            <a:ext cx="8229600" cy="106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3D89E-30CD-443C-9CC6-C5C514838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534400" cy="6264275"/>
          </a:xfrm>
        </p:spPr>
        <p:txBody>
          <a:bodyPr>
            <a:normAutofit fontScale="92500"/>
          </a:bodyPr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Following example shows the use of throw and throws keywords to send an exception in case a invalid argument is passed and handle the exception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ExcepTest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dirty="0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[]) {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sz="2400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2400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400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.out.</a:t>
            </a:r>
            <a:r>
              <a:rPr lang="en-US" sz="2400" b="0" i="0" dirty="0" err="1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dirty="0">
                <a:solidFill>
                  <a:srgbClr val="7EC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"result:"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));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catch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0" i="0" dirty="0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Exception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e)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US" sz="2400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400" b="0" i="0" dirty="0" err="1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.out.</a:t>
            </a:r>
            <a:r>
              <a:rPr lang="en-US" sz="2400" b="0" i="0" dirty="0" err="1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dirty="0">
                <a:solidFill>
                  <a:srgbClr val="7EC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"Exception: "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e); } }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b)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IllegalArgumentException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 </a:t>
            </a:r>
            <a:r>
              <a:rPr lang="en-US" sz="2400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F08D4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{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throw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dirty="0" err="1">
                <a:solidFill>
                  <a:srgbClr val="F8C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IllegalArgumentException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0" i="0" dirty="0">
                <a:solidFill>
                  <a:srgbClr val="7EC69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"second argument cannot be zero."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} </a:t>
            </a:r>
          </a:p>
          <a:p>
            <a:pPr marL="0" indent="0">
              <a:buNone/>
            </a:pPr>
            <a:r>
              <a:rPr lang="en-US" sz="2400" b="0" i="0" dirty="0">
                <a:solidFill>
                  <a:srgbClr val="CC99C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400" b="0" i="0" dirty="0">
                <a:solidFill>
                  <a:srgbClr val="67CD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0" i="0" dirty="0">
                <a:solidFill>
                  <a:srgbClr val="CCCCC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b; } 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DD153-A7FC-416B-A0ED-7712F4B6A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21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Declaring Exceptions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4906963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Font typeface="Monotype Sorts" pitchFamily="2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ct val="0"/>
              </a:spcBef>
              <a:buFont typeface="Monotype Sorts" pitchFamily="2" charset="2"/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  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throws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IOException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spcBef>
                <a:spcPct val="100000"/>
              </a:spcBef>
              <a:buFont typeface="Monotype Sorts" pitchFamily="2" charset="2"/>
              <a:buNone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myMethod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throws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Exception1, Exception2, …,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ExceptionN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Throwing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When the program detects an error, the program can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create an instance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an appropriate exception type and throw it.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is known as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throwing an 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Here is an example,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sz="3000" b="1" dirty="0">
                <a:latin typeface="Courier New" pitchFamily="49" charset="0"/>
                <a:cs typeface="Courier New" pitchFamily="49" charset="0"/>
              </a:rPr>
              <a:t>throw new </a:t>
            </a:r>
            <a:r>
              <a:rPr lang="en-US" sz="3000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sz="3000" dirty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 marL="0" indent="0">
              <a:lnSpc>
                <a:spcPct val="90000"/>
              </a:lnSpc>
              <a:spcBef>
                <a:spcPct val="100000"/>
              </a:spcBef>
              <a:buFont typeface="Monotype Sorts" pitchFamily="2" charset="2"/>
              <a:buNone/>
            </a:pPr>
            <a:r>
              <a:rPr lang="en-US" sz="3000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sz="3000" dirty="0">
                <a:latin typeface="Courier New" pitchFamily="49" charset="0"/>
                <a:cs typeface="Courier New" pitchFamily="49" charset="0"/>
              </a:rPr>
              <a:t>  ex = new </a:t>
            </a:r>
            <a:r>
              <a:rPr lang="en-US" sz="3000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sz="3000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sz="3000" dirty="0">
                <a:latin typeface="Courier New" pitchFamily="49" charset="0"/>
                <a:cs typeface="Courier New" pitchFamily="49" charset="0"/>
              </a:rPr>
            </a:br>
            <a:r>
              <a:rPr lang="en-US" sz="3000" b="1" dirty="0">
                <a:latin typeface="Courier New" pitchFamily="49" charset="0"/>
                <a:cs typeface="Courier New" pitchFamily="49" charset="0"/>
              </a:rPr>
              <a:t>throw</a:t>
            </a:r>
            <a:r>
              <a:rPr lang="en-US" sz="3000" dirty="0">
                <a:latin typeface="Courier New" pitchFamily="49" charset="0"/>
                <a:cs typeface="Courier New" pitchFamily="49" charset="0"/>
              </a:rPr>
              <a:t> ex;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Throwing Exceptions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/** Set a new radius */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b="1" dirty="0">
                <a:latin typeface="Courier New" pitchFamily="49" charset="0"/>
                <a:cs typeface="Times New Roman" pitchFamily="18" charset="0"/>
              </a:rPr>
              <a:t>public void </a:t>
            </a:r>
            <a:r>
              <a:rPr lang="en-US" dirty="0" err="1">
                <a:latin typeface="Courier New" pitchFamily="49" charset="0"/>
                <a:cs typeface="Times New Roman" pitchFamily="18" charset="0"/>
              </a:rPr>
              <a:t>setRadius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(</a:t>
            </a:r>
            <a:r>
              <a:rPr lang="en-US" b="1" dirty="0">
                <a:latin typeface="Courier New" pitchFamily="49" charset="0"/>
                <a:cs typeface="Times New Roman" pitchFamily="18" charset="0"/>
              </a:rPr>
              <a:t>double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dirty="0" err="1">
                <a:latin typeface="Courier New" pitchFamily="49" charset="0"/>
                <a:cs typeface="Times New Roman" pitchFamily="18" charset="0"/>
              </a:rPr>
              <a:t>newRadius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) 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solidFill>
                  <a:schemeClr val="bg2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Times New Roman" pitchFamily="18" charset="0"/>
              </a:rPr>
              <a:t>throws</a:t>
            </a:r>
            <a:r>
              <a:rPr lang="en-US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Times New Roman" pitchFamily="18" charset="0"/>
              </a:rPr>
              <a:t>IllegalArgumentException</a:t>
            </a:r>
            <a:r>
              <a:rPr lang="en-US" dirty="0">
                <a:solidFill>
                  <a:schemeClr val="bg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b="1" dirty="0"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dirty="0" err="1">
                <a:latin typeface="Courier New" pitchFamily="49" charset="0"/>
                <a:cs typeface="Times New Roman" pitchFamily="18" charset="0"/>
              </a:rPr>
              <a:t>newRadius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 &gt;= 0)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     radius =  </a:t>
            </a:r>
            <a:r>
              <a:rPr lang="en-US" dirty="0" err="1">
                <a:latin typeface="Courier New" pitchFamily="49" charset="0"/>
                <a:cs typeface="Times New Roman" pitchFamily="18" charset="0"/>
              </a:rPr>
              <a:t>newRadius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b="1" dirty="0">
                <a:latin typeface="Courier New" pitchFamily="49" charset="0"/>
                <a:cs typeface="Times New Roman" pitchFamily="18" charset="0"/>
              </a:rPr>
              <a:t>else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solidFill>
                  <a:schemeClr val="bg2"/>
                </a:solidFill>
                <a:latin typeface="Courier New" pitchFamily="49" charset="0"/>
                <a:cs typeface="Times New Roman" pitchFamily="18" charset="0"/>
              </a:rPr>
              <a:t>     </a:t>
            </a:r>
            <a:r>
              <a:rPr lang="en-US" b="1" dirty="0">
                <a:solidFill>
                  <a:srgbClr val="FF3300"/>
                </a:solidFill>
                <a:latin typeface="Courier New" pitchFamily="49" charset="0"/>
                <a:cs typeface="Times New Roman" pitchFamily="18" charset="0"/>
              </a:rPr>
              <a:t>throw</a:t>
            </a:r>
            <a:r>
              <a:rPr lang="en-US" dirty="0">
                <a:solidFill>
                  <a:srgbClr val="FF33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FF3300"/>
                </a:solidFill>
                <a:latin typeface="Courier New" pitchFamily="49" charset="0"/>
                <a:cs typeface="Times New Roman" pitchFamily="18" charset="0"/>
              </a:rPr>
              <a:t>new</a:t>
            </a:r>
            <a:r>
              <a:rPr lang="en-US" dirty="0">
                <a:solidFill>
                  <a:srgbClr val="FF3300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3300"/>
                </a:solidFill>
                <a:latin typeface="Courier New" pitchFamily="49" charset="0"/>
                <a:cs typeface="Times New Roman" pitchFamily="18" charset="0"/>
              </a:rPr>
              <a:t>IllegalArgumentException</a:t>
            </a:r>
            <a:endParaRPr lang="en-US" dirty="0">
              <a:solidFill>
                <a:srgbClr val="FF3300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solidFill>
                  <a:srgbClr val="FF3300"/>
                </a:solidFill>
                <a:latin typeface="Courier New" pitchFamily="49" charset="0"/>
                <a:cs typeface="Times New Roman" pitchFamily="18" charset="0"/>
              </a:rPr>
              <a:t>			("Radius cannot be negative");</a:t>
            </a:r>
          </a:p>
          <a:p>
            <a:pPr>
              <a:spcBef>
                <a:spcPct val="0"/>
              </a:spcBef>
              <a:buFont typeface="Monotype Sorts" pitchFamily="2" charset="2"/>
              <a:buNone/>
            </a:pPr>
            <a:r>
              <a:rPr lang="en-US" dirty="0">
                <a:solidFill>
                  <a:schemeClr val="bg2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dirty="0">
                <a:latin typeface="Courier New" pitchFamily="49" charset="0"/>
                <a:cs typeface="Times New Roman" pitchFamily="18" charset="0"/>
              </a:rPr>
              <a:t>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763000" cy="1143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Example: Declaring, Throwing, and Catching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22437"/>
            <a:ext cx="8686800" cy="452596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example demonstrates declaring, throwing, and catching exceptions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following program defines a circle class named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CircleWithException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in which the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setRadius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(double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newRadius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method throws an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IllegalArgumentException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the argument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newRadius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563562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Example: Declaring, Throwing, and Catching Exceptions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private double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radius;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1.0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++;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double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radius;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86800" cy="639762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Example: Declaring, Throwing, and Catching Exceptions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10600" cy="5638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void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setRadius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throws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&gt;=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 radius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newRadius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else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throw new </a:t>
            </a:r>
            <a:r>
              <a:rPr lang="en-US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“Radius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   cannot be negative ”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getNumberOfObjects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numberOfObjects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double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findArea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radius * radius *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3.14159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6200" y="121920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00" y="1524000"/>
            <a:ext cx="121920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Declare Exception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0000" y="3124200"/>
            <a:ext cx="121920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throw Exception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6324600" y="1828800"/>
            <a:ext cx="1219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1"/>
          </p:cNvCxnSpPr>
          <p:nvPr/>
        </p:nvCxnSpPr>
        <p:spPr>
          <a:xfrm rot="10800000">
            <a:off x="6400800" y="3048000"/>
            <a:ext cx="1219200" cy="3993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639762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Example: Declaring, Throwing, and Catching Exceptions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37338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public 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TestCircleWithException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public static void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main(String[]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try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c1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c2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-5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c3 =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catch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IllegalArgumentException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ex)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(ex);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"Number of objects created: "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+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CircleWithException.getNumberOfObjects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());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638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i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clause is always executed </a:t>
            </a:r>
            <a:r>
              <a:rPr lang="en-US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regardless whether an exception occurred or not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syntax for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 might look like this:</a:t>
            </a:r>
            <a:br>
              <a:rPr lang="en-US" dirty="0"/>
            </a:br>
            <a:br>
              <a:rPr lang="en-US" dirty="0"/>
            </a:br>
            <a:r>
              <a:rPr lang="en-US" b="1" dirty="0">
                <a:latin typeface="Courier New" pitchFamily="49" charset="0"/>
                <a:cs typeface="Courier New" pitchFamily="49" charset="0"/>
              </a:rPr>
              <a:t>try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statements;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latin typeface="Courier New" pitchFamily="49" charset="0"/>
                <a:cs typeface="Courier New" pitchFamily="49" charset="0"/>
              </a:rPr>
              <a:t>catch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TheException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ex) 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handling ex;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latin typeface="Courier New" pitchFamily="49" charset="0"/>
                <a:cs typeface="Courier New" pitchFamily="49" charset="0"/>
              </a:rPr>
              <a:t>finally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 err="1">
                <a:latin typeface="Courier New" pitchFamily="49" charset="0"/>
                <a:cs typeface="Courier New" pitchFamily="49" charset="0"/>
              </a:rPr>
              <a:t>finalStatements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code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is executed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under all circumstances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regardless of whether an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 occurs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or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caught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Consider three possible cases: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 exception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arises in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block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finalStatements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executed, and the next statement after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statement is executed.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a statement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causes an exception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block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that is caught in a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catch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block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rest of the statements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are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skipped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catch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is executed, and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 is executed. The next statement after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statement is executed. </a:t>
            </a:r>
          </a:p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If one of the statements causes an exception that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 caught in any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catch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block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other statements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are skipped,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 is executed,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and the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exception is passed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the caller of this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executes even if there is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statement prior to reaching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catch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 may be omitted when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 is used.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common use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clause is in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I/O programming.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ensure that a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closed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under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 circumstances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you may place a file closing statement in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finally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28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86200" cy="42103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TheException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019800" y="1295400"/>
            <a:ext cx="2927350" cy="1087437"/>
          </a:xfrm>
          <a:prstGeom prst="wedgeRoundRectCallout">
            <a:avLst>
              <a:gd name="adj1" fmla="val -146562"/>
              <a:gd name="adj2" fmla="val 52611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no exceptions in the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09800"/>
            <a:ext cx="22098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statements;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29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86200" cy="42103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TheException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019800" y="1524000"/>
            <a:ext cx="2927350" cy="1087437"/>
          </a:xfrm>
          <a:prstGeom prst="wedgeRoundRectCallout">
            <a:avLst>
              <a:gd name="adj1" fmla="val -113404"/>
              <a:gd name="adj2" fmla="val 229841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final block is always executed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4267200"/>
            <a:ext cx="31242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itchFamily="49" charset="0"/>
              </a:rPr>
              <a:t>finalStatements</a:t>
            </a:r>
            <a:r>
              <a:rPr lang="en-US" sz="2400" dirty="0">
                <a:latin typeface="Courier New" pitchFamily="49" charset="0"/>
              </a:rPr>
              <a:t>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86200" cy="41919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TheException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5943600" y="2438400"/>
            <a:ext cx="2927350" cy="1087437"/>
          </a:xfrm>
          <a:prstGeom prst="wedgeRoundRectCallout">
            <a:avLst>
              <a:gd name="adj1" fmla="val -119651"/>
              <a:gd name="adj2" fmla="val 229843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Next statement in the method is executed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257800"/>
            <a:ext cx="31242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Next statements;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4419600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catch(TheException1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019800" y="1371600"/>
            <a:ext cx="3124200" cy="1087437"/>
          </a:xfrm>
          <a:prstGeom prst="wedgeRoundRectCallout">
            <a:avLst>
              <a:gd name="adj1" fmla="val -135028"/>
              <a:gd name="adj2" fmla="val 75897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an exception of type Exception1 is thrown in statement2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514600"/>
            <a:ext cx="24384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statements2;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4572000" cy="45058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catch(TheException1 ex){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216650" y="1828800"/>
            <a:ext cx="2927350" cy="1087437"/>
          </a:xfrm>
          <a:prstGeom prst="wedgeRoundRectCallout">
            <a:avLst>
              <a:gd name="adj1" fmla="val -147523"/>
              <a:gd name="adj2" fmla="val 144461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exception is handled.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33800"/>
            <a:ext cx="24384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Handling ex;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86200" cy="480131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TheException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5943600" y="1524000"/>
            <a:ext cx="2927350" cy="1087437"/>
          </a:xfrm>
          <a:prstGeom prst="wedgeRoundRectCallout">
            <a:avLst>
              <a:gd name="adj1" fmla="val -111961"/>
              <a:gd name="adj2" fmla="val 258302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final block is always executed.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800600"/>
            <a:ext cx="31242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itchFamily="49" charset="0"/>
              </a:rPr>
              <a:t>finalStatements</a:t>
            </a:r>
            <a:r>
              <a:rPr lang="en-US" sz="2400" dirty="0">
                <a:latin typeface="Courier New" pitchFamily="49" charset="0"/>
              </a:rPr>
              <a:t>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34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886200" cy="47828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TheException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5867400" y="2209800"/>
            <a:ext cx="2927350" cy="1087437"/>
          </a:xfrm>
          <a:prstGeom prst="wedgeRoundRectCallout">
            <a:avLst>
              <a:gd name="adj1" fmla="val -113404"/>
              <a:gd name="adj2" fmla="val 289351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next statement in the method is now executed.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91200"/>
            <a:ext cx="31242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Next statements;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57200" y="1066800"/>
            <a:ext cx="4419600" cy="54107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catch(Exception1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catch(TheException2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throw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019800" y="1066800"/>
            <a:ext cx="2927350" cy="1087437"/>
          </a:xfrm>
          <a:prstGeom prst="wedgeRoundRectCallout">
            <a:avLst>
              <a:gd name="adj1" fmla="val -139833"/>
              <a:gd name="adj2" fmla="val 37087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statement2 throws an exception of type Exception2.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2600"/>
            <a:ext cx="24384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statements2;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36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" y="1084755"/>
            <a:ext cx="4724400" cy="53922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catch(Exception1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catch(TheException2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  throw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</a:p>
          <a:p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064250" y="1808163"/>
            <a:ext cx="2927350" cy="1087437"/>
          </a:xfrm>
          <a:prstGeom prst="wedgeRoundRectCallout">
            <a:avLst>
              <a:gd name="adj1" fmla="val -139834"/>
              <a:gd name="adj2" fmla="val 15998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Handling 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805535"/>
            <a:ext cx="24384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Handling ex;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04800" y="1066288"/>
            <a:ext cx="4724400" cy="54107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catch(Exception1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catch(TheException2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throw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6019800" y="1447800"/>
            <a:ext cx="2927350" cy="1087437"/>
          </a:xfrm>
          <a:prstGeom prst="wedgeRoundRectCallout">
            <a:avLst>
              <a:gd name="adj1" fmla="val -118208"/>
              <a:gd name="adj2" fmla="val 30487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Execute the final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329535"/>
            <a:ext cx="31242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Courier New" pitchFamily="49" charset="0"/>
              </a:rPr>
              <a:t>finalStatements</a:t>
            </a:r>
            <a:r>
              <a:rPr lang="en-US" sz="2400" dirty="0">
                <a:latin typeface="Courier New" pitchFamily="49" charset="0"/>
              </a:rPr>
              <a:t>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533400"/>
          </a:xfrm>
          <a:noFill/>
          <a:ln/>
        </p:spPr>
        <p:txBody>
          <a:bodyPr>
            <a:normAutofit fontScale="90000"/>
          </a:bodyPr>
          <a:lstStyle/>
          <a:p>
            <a:r>
              <a:rPr lang="en-US" sz="4300" dirty="0">
                <a:latin typeface="Times New Roman" pitchFamily="18" charset="0"/>
                <a:cs typeface="Times New Roman" pitchFamily="18" charset="0"/>
              </a:rPr>
              <a:t>Trace a Program Execution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3CD5F-D19E-43A1-BB4D-B8A28D875B0C}" type="slidenum">
              <a:rPr lang="en-US"/>
              <a:pPr/>
              <a:t>38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8600" y="1219200"/>
            <a:ext cx="4572000" cy="54107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try {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statements1;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statements2;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catch(Exception1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catch(TheException2 ex)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handling ex;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finally {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 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0"/>
              </a:rPr>
              <a:t>finalStatements</a:t>
            </a: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; 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r>
              <a:rPr lang="en-US" sz="2400" dirty="0">
                <a:solidFill>
                  <a:schemeClr val="tx1"/>
                </a:solidFill>
                <a:latin typeface="Courier New" pitchFamily="49" charset="0"/>
              </a:rPr>
              <a:t>Next statement;</a:t>
            </a:r>
            <a:endParaRPr lang="en-US" dirty="0"/>
          </a:p>
        </p:txBody>
      </p:sp>
      <p:sp>
        <p:nvSpPr>
          <p:cNvPr id="291847" name="AutoShape 7"/>
          <p:cNvSpPr>
            <a:spLocks noChangeArrowheads="1"/>
          </p:cNvSpPr>
          <p:nvPr/>
        </p:nvSpPr>
        <p:spPr bwMode="auto">
          <a:xfrm>
            <a:off x="5715000" y="1676400"/>
            <a:ext cx="3155950" cy="1087437"/>
          </a:xfrm>
          <a:prstGeom prst="wedgeRoundRectCallout">
            <a:avLst>
              <a:gd name="adj1" fmla="val -149578"/>
              <a:gd name="adj2" fmla="val 242779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Rethrow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exception and control is transferred to the caller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567535"/>
            <a:ext cx="1828800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itchFamily="49" charset="0"/>
              </a:rPr>
              <a:t>throw ex;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0400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Thank You!!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419E2-E042-4E12-BA1C-74A056E165E6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3585</TotalTime>
  <Words>2235</Words>
  <Application>Microsoft Office PowerPoint</Application>
  <PresentationFormat>On-screen Show (4:3)</PresentationFormat>
  <Paragraphs>374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Courier New</vt:lpstr>
      <vt:lpstr>Monotype Sorts</vt:lpstr>
      <vt:lpstr>Times New Roman</vt:lpstr>
      <vt:lpstr>var(--ff-lato)</vt:lpstr>
      <vt:lpstr>Office Theme</vt:lpstr>
      <vt:lpstr>Chapter Five Exception Handling</vt:lpstr>
      <vt:lpstr>Introduction </vt:lpstr>
      <vt:lpstr>Introduction</vt:lpstr>
      <vt:lpstr>Example 1: Runtime Errors</vt:lpstr>
      <vt:lpstr>Catch Runtime Errors</vt:lpstr>
      <vt:lpstr>Catch Runtime Errors</vt:lpstr>
      <vt:lpstr>Exception Classes</vt:lpstr>
      <vt:lpstr>  Exception Classes  </vt:lpstr>
      <vt:lpstr> Exception Classes </vt:lpstr>
      <vt:lpstr> Exception Types </vt:lpstr>
      <vt:lpstr>System Errors</vt:lpstr>
      <vt:lpstr>Exceptions</vt:lpstr>
      <vt:lpstr>Runtime Exceptions</vt:lpstr>
      <vt:lpstr>Java throws and throw </vt:lpstr>
      <vt:lpstr>Java throws and throw</vt:lpstr>
      <vt:lpstr>Java Throws and Throw Example </vt:lpstr>
      <vt:lpstr>Cont..</vt:lpstr>
      <vt:lpstr>  Declaring Exceptions  </vt:lpstr>
      <vt:lpstr>Throwing Exceptions</vt:lpstr>
      <vt:lpstr>Throwing Exceptions Example</vt:lpstr>
      <vt:lpstr>Example: Declaring, Throwing, and Catching Exceptions</vt:lpstr>
      <vt:lpstr>Example: Declaring, Throwing, and Catching Exceptions</vt:lpstr>
      <vt:lpstr>Example: Declaring, Throwing, and Catching Exceptions</vt:lpstr>
      <vt:lpstr>Example: Declaring, Throwing, and Catching Exceptions</vt:lpstr>
      <vt:lpstr>  The finally Clause  </vt:lpstr>
      <vt:lpstr>The finally Clause</vt:lpstr>
      <vt:lpstr>The finally Clause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Trace a Program Execution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Hagos</dc:creator>
  <cp:lastModifiedBy>abe</cp:lastModifiedBy>
  <cp:revision>255</cp:revision>
  <cp:lastPrinted>2024-04-01T05:06:04Z</cp:lastPrinted>
  <dcterms:created xsi:type="dcterms:W3CDTF">2016-02-26T10:33:39Z</dcterms:created>
  <dcterms:modified xsi:type="dcterms:W3CDTF">2024-04-01T08:21:05Z</dcterms:modified>
</cp:coreProperties>
</file>