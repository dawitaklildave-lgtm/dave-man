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71" r:id="rId11"/>
    <p:sldId id="273" r:id="rId12"/>
    <p:sldId id="274" r:id="rId13"/>
    <p:sldId id="275" r:id="rId14"/>
    <p:sldId id="276" r:id="rId15"/>
    <p:sldId id="277" r:id="rId16"/>
    <p:sldId id="291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338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" y="4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F03EC-241B-41D4-8994-723026A49953}" type="datetimeFigureOut">
              <a:rPr lang="en-US" smtClean="0"/>
              <a:t>3/3/2024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0AE37E-F257-4472-8E14-DB887714CE8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36263-04D6-4DED-B5E2-EECEFDCDBDC7}" type="datetime1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1C82A-160D-41B9-987D-D6B6D290F791}" type="datetime1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C0F12-68E0-42B0-B2A6-5AE3FFE51956}" type="datetime1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2BD41-F698-4133-A909-889D87007F51}" type="datetime1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8D795D-753C-48BA-A750-31C9915EE4E9}" type="datetime1">
              <a:rPr lang="en-US" smtClean="0"/>
              <a:t>3/3/2024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C8F333-EF91-4EA4-B22C-9318DFB56E18}" type="datetime1">
              <a:rPr lang="en-US" smtClean="0"/>
              <a:t>3/3/2024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26FC9-76FC-4BB7-9029-7D3C51E9580D}" type="datetime1">
              <a:rPr lang="en-US" smtClean="0"/>
              <a:t>3/3/2024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097373-FA41-468D-9A1E-178E77EFF0C5}" type="datetime1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E7971-A0D0-4F90-9AA0-6BDC04B43810}" type="datetime1">
              <a:rPr lang="en-US" smtClean="0"/>
              <a:t>3/3/2024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0D573-4919-4FB5-B6A8-12CA074EBA45}" type="datetime1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71D7B-1917-41CF-9CF9-9BE6977B6614}" type="datetime1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54794F-4756-44FD-99A0-C479914786BB}" type="datetime1">
              <a:rPr lang="en-US" smtClean="0"/>
              <a:t>3/3/2024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971BD-5E81-4DCA-8392-29DA2E56A5A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62784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90000"/>
                  </a:schemeClr>
                </a:solidFill>
                <a:latin typeface="Perpetua" panose="02020502060401020303" pitchFamily="18" charset="0"/>
              </a:rPr>
              <a:t>chapter 1:Introduction of OOP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7726"/>
            <a:ext cx="10515600" cy="4779237"/>
          </a:xfrm>
        </p:spPr>
        <p:txBody>
          <a:bodyPr>
            <a:normAutofit fontScale="95000" lnSpcReduction="10000"/>
          </a:bodyPr>
          <a:lstStyle/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  <a:defRPr/>
            </a:pPr>
            <a:r>
              <a:rPr lang="en-US" sz="2900" b="1" dirty="0">
                <a:latin typeface="Perpetua" panose="02020502060401020303" pitchFamily="18" charset="0"/>
              </a:rPr>
              <a:t> overview of oop</a:t>
            </a:r>
          </a:p>
          <a:p>
            <a:r>
              <a:rPr lang="en-US" dirty="0">
                <a:latin typeface="Perpetua" panose="02020502060401020303" pitchFamily="18" charset="0"/>
              </a:rPr>
              <a:t>Object-Oriented Programming (OOP) is a programming paradigm that organizes code into objects, which are instances of classes. </a:t>
            </a:r>
          </a:p>
          <a:p>
            <a:pPr marL="0" indent="0">
              <a:buNone/>
            </a:pPr>
            <a:r>
              <a:rPr lang="en-US" dirty="0">
                <a:latin typeface="Perpetua" panose="02020502060401020303" pitchFamily="18" charset="0"/>
              </a:rPr>
              <a:t>Here are some key concepts and principles of Object-Oriented Programming:</a:t>
            </a:r>
          </a:p>
          <a:p>
            <a:r>
              <a:rPr lang="en-US" b="1" dirty="0">
                <a:latin typeface="Perpetua" panose="02020502060401020303" pitchFamily="18" charset="0"/>
              </a:rPr>
              <a:t>Class: </a:t>
            </a:r>
            <a:r>
              <a:rPr lang="en-US" dirty="0">
                <a:latin typeface="Perpetua" panose="02020502060401020303" pitchFamily="18" charset="0"/>
              </a:rPr>
              <a:t>A blueprint or template for creating objects. It defines the properties and behaviors common to all objects of a certain kind.</a:t>
            </a:r>
          </a:p>
          <a:p>
            <a:r>
              <a:rPr lang="en-US" b="1" dirty="0">
                <a:latin typeface="Perpetua" panose="02020502060401020303" pitchFamily="18" charset="0"/>
              </a:rPr>
              <a:t>Object:</a:t>
            </a:r>
            <a:r>
              <a:rPr lang="en-US" dirty="0">
                <a:latin typeface="Perpetua" panose="02020502060401020303" pitchFamily="18" charset="0"/>
              </a:rPr>
              <a:t> An instance of a class. It is a concrete entity created based on the class definition.</a:t>
            </a:r>
          </a:p>
          <a:p>
            <a:r>
              <a:rPr lang="en-US" b="1" dirty="0">
                <a:latin typeface="Perpetua" panose="02020502060401020303" pitchFamily="18" charset="0"/>
              </a:rPr>
              <a:t>Encapsulation:</a:t>
            </a:r>
            <a:r>
              <a:rPr lang="en-US" dirty="0">
                <a:latin typeface="Perpetua" panose="02020502060401020303" pitchFamily="18" charset="0"/>
              </a:rPr>
              <a:t>refers to the bundling of data (attributes) and the methods (functions) that operate on that data into a single unit, i.e., a class. It helps in hiding the internal details of an object and exposing only what is necessary.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>
              <a:defRPr/>
            </a:pPr>
            <a:r>
              <a:rPr lang="en-US" b="1" dirty="0">
                <a:latin typeface="Perpetua" panose="02020502060401020303" pitchFamily="18" charset="0"/>
              </a:rPr>
              <a:t>Inheritance: </a:t>
            </a:r>
            <a:r>
              <a:rPr lang="en-US" dirty="0">
                <a:latin typeface="Perpetua" panose="02020502060401020303" pitchFamily="18" charset="0"/>
              </a:rPr>
              <a:t>is a mechanism that allows a new class (subclass or derived class) to inherit properties and behaviors of an existing class (base class or parent class). This promotes code reuse and establishes a relationship between classes.</a:t>
            </a:r>
          </a:p>
          <a:p>
            <a:pPr>
              <a:defRPr/>
            </a:pPr>
            <a:r>
              <a:rPr lang="en-US" b="1" dirty="0">
                <a:latin typeface="Perpetua" panose="02020502060401020303" pitchFamily="18" charset="0"/>
              </a:rPr>
              <a:t>Polymorphism: </a:t>
            </a:r>
            <a:r>
              <a:rPr lang="en-US" dirty="0">
                <a:latin typeface="Perpetua" panose="02020502060401020303" pitchFamily="18" charset="0"/>
              </a:rPr>
              <a:t>allows objects of different types to be treated as objects of a common base type. It enables a single interface to represent different types and is often expressed through method overriding and interfaces.</a:t>
            </a:r>
          </a:p>
          <a:p>
            <a:pPr>
              <a:defRPr/>
            </a:pP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0964"/>
            <a:ext cx="10515600" cy="67121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464" y="1162373"/>
            <a:ext cx="11028336" cy="540890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java is a high-level, object-oriented programming language that was developed by Sun Microsystems and released in 1995. </a:t>
            </a: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It is designed to be platform-independent, meaning that Java programs can run on any device that has a Java Virtual Machine (JVM) installed, regardless of the underlying hardware and operating system.</a:t>
            </a: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Java technology applications are typically general-purpose programs that run on any machine where the Java runtime environment (JRE) is installed.</a:t>
            </a: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Java Technology mainly consists two parts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Perpetua" panose="02020502060401020303" pitchFamily="18" charset="0"/>
              </a:rPr>
              <a:t>JDK 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sz="2800" dirty="0">
                <a:latin typeface="Perpetua" panose="02020502060401020303" pitchFamily="18" charset="0"/>
              </a:rPr>
              <a:t>JRE.</a:t>
            </a:r>
          </a:p>
          <a:p>
            <a:pPr marL="0" indent="0">
              <a:buNone/>
            </a:pP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72127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90000"/>
                  </a:schemeClr>
                </a:solidFill>
                <a:latin typeface="Perpetua" panose="02020502060401020303" pitchFamily="18" charset="0"/>
              </a:rPr>
              <a:t>Java Development Kit (JDK)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7252"/>
            <a:ext cx="10730948" cy="463971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JDK is A free software development package from Sun Microsystems that implements the basic set of tools needed to write, test and debug Java applications and applets. </a:t>
            </a:r>
          </a:p>
          <a:p>
            <a:pPr lvl="1">
              <a:defRPr/>
            </a:pPr>
            <a:r>
              <a:rPr lang="en-US" sz="2800" dirty="0">
                <a:latin typeface="Perpetua" panose="02020502060401020303" pitchFamily="18" charset="0"/>
              </a:rPr>
              <a:t> i.e. JDK  is Java Software Development kit (SDK)</a:t>
            </a: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It is the </a:t>
            </a:r>
            <a:r>
              <a:rPr lang="en-US" b="1" dirty="0">
                <a:latin typeface="Perpetua" panose="02020502060401020303" pitchFamily="18" charset="0"/>
              </a:rPr>
              <a:t>toolkit </a:t>
            </a:r>
            <a:r>
              <a:rPr lang="en-US" dirty="0">
                <a:latin typeface="Perpetua" panose="02020502060401020303" pitchFamily="18" charset="0"/>
              </a:rPr>
              <a:t>for developers that includes the Java compiler and the runtime environment. </a:t>
            </a: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To write Java programs, you need the JDK installed in the PC.</a:t>
            </a:r>
          </a:p>
          <a:p>
            <a:pPr marL="0" indent="0">
              <a:buNone/>
            </a:pP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JDK Editions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744200" cy="4351338"/>
          </a:xfrm>
        </p:spPr>
        <p:txBody>
          <a:bodyPr/>
          <a:lstStyle/>
          <a:p>
            <a:r>
              <a:rPr lang="en-US" altLang="en-US" sz="3000" b="1" dirty="0">
                <a:latin typeface="Perpetua" panose="02020502060401020303" pitchFamily="18" charset="0"/>
                <a:cs typeface="Times New Roman" panose="02020603050405020304" pitchFamily="18" charset="0"/>
              </a:rPr>
              <a:t>Java Standard Edition (J2SE)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500" dirty="0">
                <a:latin typeface="Perpetua" panose="02020502060401020303" pitchFamily="18" charset="0"/>
                <a:cs typeface="Times New Roman" panose="02020603050405020304" pitchFamily="18" charset="0"/>
              </a:rPr>
              <a:t>J2SE can be used to develop client-side standalone </a:t>
            </a:r>
            <a:r>
              <a:rPr lang="en-US" altLang="en-US" sz="2500" i="1" dirty="0">
                <a:latin typeface="Perpetua" panose="02020502060401020303" pitchFamily="18" charset="0"/>
                <a:cs typeface="Times New Roman" panose="02020603050405020304" pitchFamily="18" charset="0"/>
              </a:rPr>
              <a:t>applications</a:t>
            </a:r>
            <a:r>
              <a:rPr lang="en-US" altLang="en-US" sz="2500" dirty="0">
                <a:latin typeface="Perpetua" panose="02020502060401020303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500" i="1" dirty="0">
                <a:latin typeface="Perpetua" panose="02020502060401020303" pitchFamily="18" charset="0"/>
                <a:cs typeface="Times New Roman" panose="02020603050405020304" pitchFamily="18" charset="0"/>
              </a:rPr>
              <a:t>applets</a:t>
            </a:r>
            <a:r>
              <a:rPr lang="en-US" altLang="en-US" sz="2500" dirty="0">
                <a:latin typeface="Perpetua" panose="02020502060401020303" pitchFamily="18" charset="0"/>
                <a:cs typeface="Times New Roman" panose="02020603050405020304" pitchFamily="18" charset="0"/>
              </a:rPr>
              <a:t>.</a:t>
            </a:r>
          </a:p>
          <a:p>
            <a:pPr lvl="1">
              <a:buFontTx/>
              <a:buNone/>
            </a:pPr>
            <a:endParaRPr lang="en-US" altLang="en-US" sz="2500" dirty="0">
              <a:latin typeface="Perpetua" panose="02020502060401020303" pitchFamily="18" charset="0"/>
              <a:cs typeface="Times New Roman" panose="02020603050405020304" pitchFamily="18" charset="0"/>
            </a:endParaRPr>
          </a:p>
          <a:p>
            <a:r>
              <a:rPr lang="en-US" altLang="en-US" sz="3000" b="1" dirty="0">
                <a:latin typeface="Perpetua" panose="02020502060401020303" pitchFamily="18" charset="0"/>
                <a:cs typeface="Times New Roman" panose="02020603050405020304" pitchFamily="18" charset="0"/>
              </a:rPr>
              <a:t>Java Enterprise Edition (J2EE)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500" dirty="0">
                <a:latin typeface="Perpetua" panose="02020502060401020303" pitchFamily="18" charset="0"/>
                <a:cs typeface="Times New Roman" panose="02020603050405020304" pitchFamily="18" charset="0"/>
              </a:rPr>
              <a:t>J2EE can be used to develop server-side applications such as </a:t>
            </a:r>
            <a:r>
              <a:rPr lang="en-US" altLang="en-US" sz="2500" i="1" dirty="0">
                <a:latin typeface="Perpetua" panose="02020502060401020303" pitchFamily="18" charset="0"/>
                <a:cs typeface="Times New Roman" panose="02020603050405020304" pitchFamily="18" charset="0"/>
              </a:rPr>
              <a:t>Java servlets </a:t>
            </a:r>
            <a:r>
              <a:rPr lang="en-US" altLang="en-US" sz="2500" dirty="0">
                <a:latin typeface="Perpetua" panose="02020502060401020303" pitchFamily="18" charset="0"/>
                <a:cs typeface="Times New Roman" panose="02020603050405020304" pitchFamily="18" charset="0"/>
              </a:rPr>
              <a:t>and Java </a:t>
            </a:r>
            <a:r>
              <a:rPr lang="en-US" altLang="en-US" sz="2500" i="1" dirty="0">
                <a:latin typeface="Perpetua" panose="02020502060401020303" pitchFamily="18" charset="0"/>
                <a:cs typeface="Times New Roman" panose="02020603050405020304" pitchFamily="18" charset="0"/>
              </a:rPr>
              <a:t>ServerPages</a:t>
            </a:r>
            <a:r>
              <a:rPr lang="en-US" altLang="en-US" sz="2500" dirty="0">
                <a:latin typeface="Perpetua" panose="02020502060401020303" pitchFamily="18" charset="0"/>
                <a:cs typeface="Times New Roman" panose="02020603050405020304" pitchFamily="18" charset="0"/>
              </a:rPr>
              <a:t>. 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altLang="en-US" sz="2500" dirty="0">
              <a:latin typeface="Perpetua" panose="02020502060401020303" pitchFamily="18" charset="0"/>
              <a:cs typeface="Times New Roman" panose="02020603050405020304" pitchFamily="18" charset="0"/>
            </a:endParaRPr>
          </a:p>
          <a:p>
            <a:r>
              <a:rPr lang="en-US" altLang="en-US" sz="3000" b="1" dirty="0">
                <a:latin typeface="Perpetua" panose="02020502060401020303" pitchFamily="18" charset="0"/>
                <a:cs typeface="Times New Roman" panose="02020603050405020304" pitchFamily="18" charset="0"/>
              </a:rPr>
              <a:t>Java Micro Edition (J2ME)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500" dirty="0">
                <a:latin typeface="Perpetua" panose="02020502060401020303" pitchFamily="18" charset="0"/>
                <a:cs typeface="Times New Roman" panose="02020603050405020304" pitchFamily="18" charset="0"/>
              </a:rPr>
              <a:t>J2ME can be used to develop applications for </a:t>
            </a:r>
            <a:r>
              <a:rPr lang="en-US" altLang="en-US" sz="2500" i="1" dirty="0">
                <a:latin typeface="Perpetua" panose="02020502060401020303" pitchFamily="18" charset="0"/>
                <a:cs typeface="Times New Roman" panose="02020603050405020304" pitchFamily="18" charset="0"/>
              </a:rPr>
              <a:t>mobile devices</a:t>
            </a:r>
            <a:r>
              <a:rPr lang="en-US" altLang="en-US" sz="2500" dirty="0">
                <a:latin typeface="Perpetua" panose="02020502060401020303" pitchFamily="18" charset="0"/>
                <a:cs typeface="Times New Roman" panose="02020603050405020304" pitchFamily="18" charset="0"/>
              </a:rPr>
              <a:t> such as </a:t>
            </a:r>
            <a:r>
              <a:rPr lang="en-US" altLang="en-US" sz="2500" i="1" dirty="0">
                <a:latin typeface="Perpetua" panose="02020502060401020303" pitchFamily="18" charset="0"/>
                <a:cs typeface="Times New Roman" panose="02020603050405020304" pitchFamily="18" charset="0"/>
              </a:rPr>
              <a:t>cell phones</a:t>
            </a:r>
            <a:r>
              <a:rPr lang="en-US" altLang="en-US" sz="2500" dirty="0">
                <a:latin typeface="Perpetua" panose="02020502060401020303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Java Runtime Environment (JRE)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549831"/>
            <a:ext cx="10651435" cy="4627132"/>
          </a:xfrm>
        </p:spPr>
        <p:txBody>
          <a:bodyPr/>
          <a:lstStyle/>
          <a:p>
            <a:pPr>
              <a:defRPr/>
            </a:pPr>
            <a:r>
              <a:rPr lang="en-US" b="1" dirty="0">
                <a:latin typeface="Perpetua" panose="02020502060401020303" pitchFamily="18" charset="0"/>
              </a:rPr>
              <a:t>JRE</a:t>
            </a:r>
            <a:r>
              <a:rPr lang="en-US" dirty="0">
                <a:latin typeface="Perpetua" panose="02020502060401020303" pitchFamily="18" charset="0"/>
              </a:rPr>
              <a:t> is the program that emulates the </a:t>
            </a:r>
            <a:r>
              <a:rPr lang="en-US" b="1" dirty="0">
                <a:latin typeface="Perpetua" panose="02020502060401020303" pitchFamily="18" charset="0"/>
              </a:rPr>
              <a:t>JVM</a:t>
            </a:r>
            <a:r>
              <a:rPr lang="en-US" dirty="0">
                <a:latin typeface="Perpetua" panose="02020502060401020303" pitchFamily="18" charset="0"/>
              </a:rPr>
              <a:t>, so that users can run Java programs. </a:t>
            </a: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To run Java programs, you need download and install the JRE.</a:t>
            </a: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Runs code compiled for a JVM and performs class loading (through the class loader), code verification (through the bytecode verifier) and finally code execution. </a:t>
            </a: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The major component of JRE are</a:t>
            </a:r>
          </a:p>
          <a:p>
            <a:pPr lvl="1">
              <a:defRPr/>
            </a:pPr>
            <a:r>
              <a:rPr lang="en-US" b="1" dirty="0">
                <a:latin typeface="Perpetua" panose="02020502060401020303" pitchFamily="18" charset="0"/>
              </a:rPr>
              <a:t>Java platform core classes libraries</a:t>
            </a:r>
          </a:p>
          <a:p>
            <a:pPr lvl="1">
              <a:defRPr/>
            </a:pPr>
            <a:r>
              <a:rPr lang="en-US" b="1" dirty="0">
                <a:latin typeface="Perpetua" panose="02020502060401020303" pitchFamily="18" charset="0"/>
              </a:rPr>
              <a:t>Java virtual machine (JVM)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500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Perpetua" panose="02020502060401020303" pitchFamily="18" charset="0"/>
              </a:rPr>
              <a:t>Why Java?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58240"/>
            <a:ext cx="10515600" cy="5492750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  <a:defRPr/>
            </a:pPr>
            <a:r>
              <a:rPr lang="en-US" sz="2400" dirty="0">
                <a:latin typeface="Perpetua" panose="02020502060401020303" pitchFamily="18" charset="0"/>
              </a:rPr>
              <a:t>java is a popular and widely used programming language for various reasons. Here are some key factors that contribute to Java's popularity</a:t>
            </a: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2400" b="1" dirty="0">
                <a:latin typeface="Perpetua" panose="02020502060401020303" pitchFamily="18" charset="0"/>
              </a:rPr>
              <a:t>Platform </a:t>
            </a:r>
            <a:r>
              <a:rPr lang="en-US" sz="2400" b="1" dirty="0" err="1">
                <a:latin typeface="Perpetua" panose="02020502060401020303" pitchFamily="18" charset="0"/>
              </a:rPr>
              <a:t>Independence:</a:t>
            </a:r>
            <a:r>
              <a:rPr lang="en-US" sz="2400" dirty="0" err="1">
                <a:latin typeface="Perpetua" panose="02020502060401020303" pitchFamily="18" charset="0"/>
              </a:rPr>
              <a:t>Java</a:t>
            </a:r>
            <a:r>
              <a:rPr lang="en-US" sz="2400" dirty="0">
                <a:latin typeface="Perpetua" panose="02020502060401020303" pitchFamily="18" charset="0"/>
              </a:rPr>
              <a:t> programs are compiled into an intermediate bytecode that can be executed on any device with the Java Virtual Machine (JVM). </a:t>
            </a: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2400" b="1" dirty="0">
                <a:latin typeface="Perpetua" panose="02020502060401020303" pitchFamily="18" charset="0"/>
              </a:rPr>
              <a:t>Object-Oriented Paradigm:</a:t>
            </a:r>
            <a:r>
              <a:rPr lang="en-US" sz="2400" dirty="0">
                <a:latin typeface="Perpetua" panose="02020502060401020303" pitchFamily="18" charset="0"/>
              </a:rPr>
              <a:t>It follows OOP principles such as encapsulation, inheritance, and polymorphism, making it easier to design, develop, and maintain complex software systems.</a:t>
            </a: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2400" b="1" dirty="0">
                <a:latin typeface="Perpetua" panose="02020502060401020303" pitchFamily="18" charset="0"/>
              </a:rPr>
              <a:t>Rich Standard Library:</a:t>
            </a:r>
            <a:r>
              <a:rPr lang="en-US" sz="2400" dirty="0">
                <a:latin typeface="Perpetua" panose="02020502060401020303" pitchFamily="18" charset="0"/>
              </a:rPr>
              <a:t>it provides a wide range of classes and methods for common programming tasks. </a:t>
            </a: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en-US" sz="2400" b="1" dirty="0">
                <a:latin typeface="Perpetua" panose="02020502060401020303" pitchFamily="18" charset="0"/>
              </a:rPr>
              <a:t>Strong Community Support:</a:t>
            </a:r>
            <a:r>
              <a:rPr lang="en-US" sz="2400" dirty="0">
                <a:latin typeface="Perpetua" panose="02020502060401020303" pitchFamily="18" charset="0"/>
              </a:rPr>
              <a:t>Java has a large and active developer community. This community support is valuable for sharing knowledge, troubleshooting issues, and contributing to the growth of libraries, frameworks, and tools.</a:t>
            </a:r>
          </a:p>
          <a:p>
            <a:pPr marL="0" indent="0">
              <a:lnSpc>
                <a:spcPct val="110000"/>
              </a:lnSpc>
              <a:buNone/>
              <a:defRPr/>
            </a:pPr>
            <a:endParaRPr lang="en-US" sz="2400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29615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Features of Java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2155" y="1251585"/>
            <a:ext cx="10621645" cy="53778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simple</a:t>
            </a:r>
          </a:p>
          <a:p>
            <a:pPr marL="0" indent="0">
              <a:buNone/>
            </a:pPr>
            <a:r>
              <a:rPr lang="en-US" sz="2400" dirty="0">
                <a:latin typeface="Perpetua" panose="02020502060401020303" pitchFamily="18" charset="0"/>
                <a:sym typeface="+mn-ea"/>
              </a:rPr>
              <a:t>Here are some aspects highlighting why Java is often considered a simple language:</a:t>
            </a:r>
            <a:endParaRPr lang="en-US" sz="2400" dirty="0">
              <a:latin typeface="Perpetua" panose="02020502060401020303" pitchFamily="18" charset="0"/>
            </a:endParaRPr>
          </a:p>
          <a:p>
            <a:r>
              <a:rPr lang="en-US" sz="2400" b="1" dirty="0">
                <a:latin typeface="Perpetua" panose="02020502060401020303" pitchFamily="18" charset="0"/>
                <a:sym typeface="+mn-ea"/>
              </a:rPr>
              <a:t>Syntax Similar to C+</a:t>
            </a:r>
            <a:r>
              <a:rPr lang="en-US" sz="2400" dirty="0">
                <a:latin typeface="Perpetua" panose="02020502060401020303" pitchFamily="18" charset="0"/>
                <a:sym typeface="+mn-ea"/>
              </a:rPr>
              <a:t>+</a:t>
            </a:r>
            <a:endParaRPr lang="en-US" sz="2400" dirty="0">
              <a:latin typeface="Perpetua" panose="02020502060401020303" pitchFamily="18" charset="0"/>
            </a:endParaRPr>
          </a:p>
          <a:p>
            <a:r>
              <a:rPr lang="en-US" sz="2400" b="1" dirty="0">
                <a:latin typeface="Perpetua" panose="02020502060401020303" pitchFamily="18" charset="0"/>
                <a:sym typeface="+mn-ea"/>
              </a:rPr>
              <a:t>No Pointers</a:t>
            </a:r>
            <a:endParaRPr lang="en-US" sz="2400" b="1" dirty="0">
              <a:latin typeface="Perpetua" panose="02020502060401020303" pitchFamily="18" charset="0"/>
            </a:endParaRPr>
          </a:p>
          <a:p>
            <a:r>
              <a:rPr lang="en-US" sz="2400" b="1" dirty="0">
                <a:latin typeface="Perpetua" panose="02020502060401020303" pitchFamily="18" charset="0"/>
                <a:sym typeface="+mn-ea"/>
              </a:rPr>
              <a:t>Standard Libraries</a:t>
            </a:r>
            <a:r>
              <a:rPr lang="en-US" sz="2400" dirty="0">
                <a:latin typeface="Perpetua" panose="02020502060401020303" pitchFamily="18" charset="0"/>
                <a:sym typeface="+mn-ea"/>
              </a:rPr>
              <a:t>:Java comes with a rich set of standard libraries that provides pre-built functionalities for common tasks, reducing the need for developers to write code from scratch.</a:t>
            </a:r>
            <a:endParaRPr lang="en-US" sz="2400" dirty="0">
              <a:latin typeface="Perpetua" panose="02020502060401020303" pitchFamily="18" charset="0"/>
            </a:endParaRPr>
          </a:p>
          <a:p>
            <a:r>
              <a:rPr lang="en-US" sz="2400" b="1" dirty="0">
                <a:latin typeface="Perpetua" panose="02020502060401020303" pitchFamily="18" charset="0"/>
                <a:sym typeface="+mn-ea"/>
              </a:rPr>
              <a:t>Platform Independence</a:t>
            </a:r>
            <a:r>
              <a:rPr lang="en-US" sz="2400" dirty="0">
                <a:latin typeface="Perpetua" panose="02020502060401020303" pitchFamily="18" charset="0"/>
                <a:sym typeface="+mn-ea"/>
              </a:rPr>
              <a:t>:Java's "Write Once, Run Anywhere" (WORA) principle allows Java programs to run on any device with a Java Virtual Machine (JVM), making it easier to deploy applications across various platforms.</a:t>
            </a:r>
            <a:endParaRPr lang="en-US" sz="2400" dirty="0">
              <a:latin typeface="Perpetua" panose="02020502060401020303" pitchFamily="18" charset="0"/>
            </a:endParaRPr>
          </a:p>
          <a:p>
            <a:r>
              <a:rPr lang="en-US" sz="2400" b="1" dirty="0">
                <a:latin typeface="Perpetua" panose="02020502060401020303" pitchFamily="18" charset="0"/>
                <a:sym typeface="+mn-ea"/>
              </a:rPr>
              <a:t>Exception Handling</a:t>
            </a:r>
            <a:r>
              <a:rPr lang="en-US" sz="2400" dirty="0">
                <a:latin typeface="Perpetua" panose="02020502060401020303" pitchFamily="18" charset="0"/>
                <a:sym typeface="+mn-ea"/>
              </a:rPr>
              <a:t>:Java has a robust exception-handling mechanism that helps developers identify and manage errors effectively, improving the reliability of Java programs.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Perpetua" panose="02020502060401020303" pitchFamily="18" charset="0"/>
              </a:rPr>
              <a:t>Object oriented</a:t>
            </a:r>
            <a:endParaRPr lang="en-US" sz="3600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7009"/>
            <a:ext cx="10515600" cy="4599954"/>
          </a:xfrm>
        </p:spPr>
        <p:txBody>
          <a:bodyPr/>
          <a:lstStyle/>
          <a:p>
            <a:r>
              <a:rPr lang="en-US" sz="2400" dirty="0">
                <a:latin typeface="Perpetua" panose="02020502060401020303" pitchFamily="18" charset="0"/>
                <a:sym typeface="+mn-ea"/>
              </a:rPr>
              <a:t>focus on the data (objects) and methods manipulating the data</a:t>
            </a:r>
            <a:endParaRPr lang="en-US" sz="2400" dirty="0">
              <a:latin typeface="Perpetua" panose="02020502060401020303" pitchFamily="18" charset="0"/>
            </a:endParaRPr>
          </a:p>
          <a:p>
            <a:r>
              <a:rPr lang="en-US" sz="2400" dirty="0">
                <a:latin typeface="Perpetua" panose="02020502060401020303" pitchFamily="18" charset="0"/>
                <a:sym typeface="+mn-ea"/>
              </a:rPr>
              <a:t>all functions are associated with objects</a:t>
            </a:r>
            <a:endParaRPr lang="en-US" sz="2400" dirty="0">
              <a:latin typeface="Perpetua" panose="02020502060401020303" pitchFamily="18" charset="0"/>
            </a:endParaRPr>
          </a:p>
          <a:p>
            <a:r>
              <a:rPr lang="en-US" sz="2400" dirty="0">
                <a:latin typeface="Perpetua" panose="02020502060401020303" pitchFamily="18" charset="0"/>
                <a:sym typeface="+mn-ea"/>
              </a:rPr>
              <a:t>almost all datatypes are objects (files, strings, etc.)</a:t>
            </a:r>
            <a:endParaRPr lang="en-US" sz="2400" dirty="0">
              <a:latin typeface="Perpetua" panose="02020502060401020303" pitchFamily="18" charset="0"/>
            </a:endParaRPr>
          </a:p>
          <a:p>
            <a:r>
              <a:rPr lang="en-US" sz="2400" dirty="0">
                <a:latin typeface="Perpetua" panose="02020502060401020303" pitchFamily="18" charset="0"/>
                <a:sym typeface="+mn-ea"/>
              </a:rPr>
              <a:t>potentially better code organization and reuse</a:t>
            </a:r>
            <a:endParaRPr lang="en-US" sz="2400" dirty="0">
              <a:latin typeface="Perpetua" panose="02020502060401020303" pitchFamily="18" charset="0"/>
            </a:endParaRPr>
          </a:p>
          <a:p>
            <a:pPr marL="0" indent="0">
              <a:buNone/>
            </a:pPr>
            <a:r>
              <a:rPr lang="en-US" sz="3200" b="1" dirty="0">
                <a:latin typeface="Perpetua" panose="02020502060401020303" pitchFamily="18" charset="0"/>
                <a:sym typeface="+mn-ea"/>
              </a:rPr>
              <a:t>Interpreted</a:t>
            </a:r>
          </a:p>
          <a:p>
            <a:pPr marL="0" indent="0"/>
            <a:r>
              <a:rPr lang="en-US" sz="2400" dirty="0">
                <a:latin typeface="Perpetua" panose="02020502060401020303" pitchFamily="18" charset="0"/>
                <a:sym typeface="+mn-ea"/>
              </a:rPr>
              <a:t>java compiler generate byte-codes</a:t>
            </a:r>
          </a:p>
          <a:p>
            <a:pPr marL="0" indent="0"/>
            <a:r>
              <a:rPr lang="en-US" sz="2400" dirty="0">
                <a:latin typeface="Perpetua" panose="02020502060401020303" pitchFamily="18" charset="0"/>
                <a:sym typeface="+mn-ea"/>
              </a:rPr>
              <a:t>the compiled byte-codes are platform-independent</a:t>
            </a:r>
          </a:p>
          <a:p>
            <a:pPr marL="0" indent="0"/>
            <a:r>
              <a:rPr lang="en-US" sz="2400" dirty="0">
                <a:latin typeface="Perpetua" panose="02020502060401020303" pitchFamily="18" charset="0"/>
                <a:sym typeface="+mn-ea"/>
              </a:rPr>
              <a:t>java bytecodes are translated on the fly to machine readable instructions in runtime (Java Virtual Machine)</a:t>
            </a:r>
            <a:endParaRPr lang="en-US" sz="2400" dirty="0">
              <a:latin typeface="Perpetua" panose="02020502060401020303" pitchFamily="18" charset="0"/>
            </a:endParaRPr>
          </a:p>
          <a:p>
            <a:pPr marL="0" indent="0">
              <a:buNone/>
            </a:pPr>
            <a:endParaRPr lang="en-US" sz="2400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Multithreaded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77009"/>
            <a:ext cx="10515600" cy="4599954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dirty="0">
                <a:latin typeface="Perpetua" panose="02020502060401020303" pitchFamily="18" charset="0"/>
              </a:rPr>
              <a:t>Java provides support for concurrent execution of multiple threads within a single program. </a:t>
            </a:r>
          </a:p>
          <a:p>
            <a:pPr marL="0" indent="0"/>
            <a:r>
              <a:rPr lang="en-US" b="1" dirty="0">
                <a:latin typeface="Perpetua" panose="02020502060401020303" pitchFamily="18" charset="0"/>
              </a:rPr>
              <a:t>Thread Class:</a:t>
            </a:r>
            <a:r>
              <a:rPr lang="en-US" dirty="0">
                <a:latin typeface="Perpetua" panose="02020502060401020303" pitchFamily="18" charset="0"/>
              </a:rPr>
              <a:t>Java represents threads using the Thread class. Developers can create threads by extending the Thread class or implementing the Runnable interface.</a:t>
            </a:r>
          </a:p>
          <a:p>
            <a:r>
              <a:rPr lang="en-US" b="1" dirty="0">
                <a:latin typeface="Perpetua" panose="02020502060401020303" pitchFamily="18" charset="0"/>
              </a:rPr>
              <a:t>Concurrency and Parallelism:</a:t>
            </a:r>
            <a:r>
              <a:rPr lang="en-US" dirty="0">
                <a:latin typeface="Perpetua" panose="02020502060401020303" pitchFamily="18" charset="0"/>
              </a:rPr>
              <a:t>Java supports both concurrency and parallelism. Concurrency refers to the ability of different parts of a program to execute independently, while parallelism involves executing multiple threads simultaneously.</a:t>
            </a:r>
          </a:p>
          <a:p>
            <a:r>
              <a:rPr lang="en-US" b="1" dirty="0">
                <a:latin typeface="Perpetua" panose="02020502060401020303" pitchFamily="18" charset="0"/>
              </a:rPr>
              <a:t>Thread Lifecycle:</a:t>
            </a:r>
            <a:r>
              <a:rPr lang="en-US" dirty="0">
                <a:latin typeface="Perpetua" panose="02020502060401020303" pitchFamily="18" charset="0"/>
              </a:rPr>
              <a:t>Java threads go through various states in their lifecycle, including NEW, RUNNABLE, BLOCKED, WAITING, TIMED_WAITING, and TERMINATED. Developers can control the execution of threads using methods provided by the Thread class.</a:t>
            </a:r>
          </a:p>
          <a:p>
            <a:pPr marL="0" indent="0">
              <a:buNone/>
            </a:pP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9843" y="365125"/>
            <a:ext cx="10783957" cy="8540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>
                    <a:lumMod val="90000"/>
                  </a:schemeClr>
                </a:solidFill>
                <a:latin typeface="Perpetua" panose="02020502060401020303" pitchFamily="18" charset="0"/>
              </a:rPr>
              <a:t>Phases of a Java Program 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7" name="Content Placeholder 2"/>
          <p:cNvSpPr txBox="1"/>
          <p:nvPr/>
        </p:nvSpPr>
        <p:spPr bwMode="auto">
          <a:xfrm>
            <a:off x="569843" y="1343892"/>
            <a:ext cx="11131827" cy="4782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buClr>
                <a:schemeClr val="tx1"/>
              </a:buClr>
              <a:buFont typeface="Wingdings" panose="05000000000000000000" pitchFamily="2" charset="2"/>
              <a:buChar char="§"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erpetua" panose="02020502060401020303" pitchFamily="18" charset="0"/>
              </a:rPr>
              <a:t>Java programs normally go through five phases –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erpetua" panose="02020502060401020303" pitchFamily="18" charset="0"/>
              </a:rPr>
              <a:t>edit, compile, load, verify 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erpetua" panose="02020502060401020303" pitchFamily="18" charset="0"/>
              </a:rPr>
              <a:t>and</a:t>
            </a:r>
            <a:r>
              <a:rPr kumimoji="0" lang="en-US" sz="2800" b="0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erpetua" panose="02020502060401020303" pitchFamily="18" charset="0"/>
              </a:rPr>
              <a:t> </a:t>
            </a:r>
            <a:r>
              <a:rPr kumimoji="0" lang="en-US" sz="2800" b="1" i="1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Perpetua" panose="02020502060401020303" pitchFamily="18" charset="0"/>
              </a:rPr>
              <a:t>execute</a:t>
            </a:r>
          </a:p>
          <a:p>
            <a:pPr lvl="1">
              <a:defRPr/>
            </a:pPr>
            <a:endParaRPr kumimoji="0" lang="en-US" sz="2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erpetua" panose="02020502060401020303" pitchFamily="18" charset="0"/>
            </a:endParaRPr>
          </a:p>
        </p:txBody>
      </p:sp>
      <p:pic>
        <p:nvPicPr>
          <p:cNvPr id="8" name="Picture 2" descr="[Java+Phase.JPG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884" y="2282393"/>
            <a:ext cx="6895715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4" descr="[phase+2.bmp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715" y="4954877"/>
            <a:ext cx="5273194" cy="151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8" t="10962" r="18610" b="5994"/>
          <a:stretch>
            <a:fillRect/>
          </a:stretch>
        </p:blipFill>
        <p:spPr bwMode="auto">
          <a:xfrm>
            <a:off x="955963" y="0"/>
            <a:ext cx="8991600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609" y="365125"/>
            <a:ext cx="10691191" cy="1269711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Phase 1: Creating a program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2609" y="1634836"/>
            <a:ext cx="10999303" cy="4858729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Involves  editing a file with an editor </a:t>
            </a: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The following are some Java Integrated Development Environments (IDEs).</a:t>
            </a:r>
          </a:p>
          <a:p>
            <a:pPr lvl="1">
              <a:defRPr/>
            </a:pPr>
            <a:r>
              <a:rPr lang="en-US" i="1" dirty="0" err="1">
                <a:latin typeface="Perpetua" panose="02020502060401020303" pitchFamily="18" charset="0"/>
              </a:rPr>
              <a:t>Jbuilder</a:t>
            </a:r>
            <a:r>
              <a:rPr lang="en-US" i="1" dirty="0">
                <a:latin typeface="Perpetua" panose="02020502060401020303" pitchFamily="18" charset="0"/>
              </a:rPr>
              <a:t>, NetBeans , Sun ONE Studio, Eclipse, </a:t>
            </a:r>
            <a:r>
              <a:rPr lang="en-US" i="1" dirty="0" err="1">
                <a:latin typeface="Perpetua" panose="02020502060401020303" pitchFamily="18" charset="0"/>
              </a:rPr>
              <a:t>jEdit</a:t>
            </a:r>
            <a:r>
              <a:rPr lang="en-US" i="1" dirty="0">
                <a:latin typeface="Perpetua" panose="02020502060401020303" pitchFamily="18" charset="0"/>
              </a:rPr>
              <a:t>, </a:t>
            </a:r>
            <a:r>
              <a:rPr lang="en-US" i="1" dirty="0" err="1">
                <a:latin typeface="Perpetua" panose="02020502060401020303" pitchFamily="18" charset="0"/>
              </a:rPr>
              <a:t>Jcreator</a:t>
            </a:r>
            <a:r>
              <a:rPr lang="en-US" i="1" dirty="0">
                <a:latin typeface="Perpetua" panose="02020502060401020303" pitchFamily="18" charset="0"/>
              </a:rPr>
              <a:t>,  </a:t>
            </a:r>
            <a:r>
              <a:rPr lang="en-US" i="1" dirty="0" err="1">
                <a:latin typeface="Perpetua" panose="02020502060401020303" pitchFamily="18" charset="0"/>
              </a:rPr>
              <a:t>BlueJ</a:t>
            </a:r>
            <a:r>
              <a:rPr lang="en-US" i="1" dirty="0">
                <a:latin typeface="Perpetua" panose="02020502060401020303" pitchFamily="18" charset="0"/>
              </a:rPr>
              <a:t>, </a:t>
            </a:r>
            <a:r>
              <a:rPr lang="en-US" i="1" dirty="0" err="1">
                <a:latin typeface="Perpetua" panose="02020502060401020303" pitchFamily="18" charset="0"/>
              </a:rPr>
              <a:t>jGRASP</a:t>
            </a:r>
            <a:r>
              <a:rPr lang="en-US" i="1" dirty="0">
                <a:latin typeface="Perpetua" panose="02020502060401020303" pitchFamily="18" charset="0"/>
              </a:rPr>
              <a:t>, </a:t>
            </a:r>
            <a:r>
              <a:rPr lang="en-US" dirty="0">
                <a:latin typeface="Perpetua" panose="02020502060401020303" pitchFamily="18" charset="0"/>
              </a:rPr>
              <a:t>etc.</a:t>
            </a:r>
          </a:p>
          <a:p>
            <a:pPr lvl="1">
              <a:defRPr/>
            </a:pPr>
            <a:r>
              <a:rPr lang="en-US" dirty="0">
                <a:latin typeface="Perpetua" panose="02020502060401020303" pitchFamily="18" charset="0"/>
              </a:rPr>
              <a:t>Most of this editors  can be downloaded for free.</a:t>
            </a:r>
          </a:p>
          <a:p>
            <a:pPr lvl="1"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marL="342900" lvl="1" indent="-342900">
              <a:buClr>
                <a:schemeClr val="tx2"/>
              </a:buClr>
              <a:buSzPct val="75000"/>
              <a:defRPr/>
            </a:pPr>
            <a:r>
              <a:rPr lang="en-US" dirty="0">
                <a:latin typeface="Perpetua" panose="02020502060401020303" pitchFamily="18" charset="0"/>
              </a:rPr>
              <a:t>Any text editor can also be used for creating Java programs.</a:t>
            </a:r>
          </a:p>
          <a:p>
            <a:pPr marL="342900" lvl="1" indent="-342900">
              <a:buClr>
                <a:schemeClr val="tx2"/>
              </a:buClr>
              <a:buSzPct val="75000"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marL="342900" lvl="1" indent="-342900">
              <a:buClr>
                <a:schemeClr val="tx2"/>
              </a:buClr>
              <a:buSzPct val="75000"/>
              <a:defRPr/>
            </a:pPr>
            <a:r>
              <a:rPr lang="en-US" dirty="0">
                <a:latin typeface="Perpetua" panose="02020502060401020303" pitchFamily="18" charset="0"/>
              </a:rPr>
              <a:t>Programs written on IDEs  or any other editors are known as Source Code.</a:t>
            </a:r>
          </a:p>
          <a:p>
            <a:pPr marL="342900" lvl="1" indent="-342900">
              <a:buClr>
                <a:schemeClr val="tx2"/>
              </a:buClr>
              <a:buSzPct val="75000"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marL="342900" lvl="1" indent="-342900">
              <a:buClr>
                <a:schemeClr val="tx2"/>
              </a:buClr>
              <a:buSzPct val="75000"/>
              <a:defRPr/>
            </a:pPr>
            <a:r>
              <a:rPr lang="en-US" dirty="0">
                <a:latin typeface="Perpetua" panose="02020502060401020303" pitchFamily="18" charset="0"/>
              </a:rPr>
              <a:t>Java source code file names end with .java extension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6348" y="365125"/>
            <a:ext cx="10986052" cy="1325563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latin typeface="Perpetua" panose="02020502060401020303" pitchFamily="18" charset="0"/>
              </a:rPr>
              <a:t>Phase 2: </a:t>
            </a:r>
            <a:r>
              <a:rPr lang="en-US" b="1" dirty="0">
                <a:latin typeface="Perpetua" panose="02020502060401020303" pitchFamily="18" charset="0"/>
              </a:rPr>
              <a:t>Compiling Java Programs into Bytecodes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348" y="1825625"/>
            <a:ext cx="10986052" cy="4351338"/>
          </a:xfrm>
        </p:spPr>
        <p:txBody>
          <a:bodyPr/>
          <a:lstStyle/>
          <a:p>
            <a:r>
              <a:rPr lang="en-US" altLang="en-US" dirty="0">
                <a:latin typeface="Perpetua" panose="02020502060401020303" pitchFamily="18" charset="0"/>
                <a:cs typeface="Times New Roman" panose="02020603050405020304" pitchFamily="18" charset="0"/>
              </a:rPr>
              <a:t>Since a computer cannot understand a source program, program called a </a:t>
            </a:r>
            <a:r>
              <a:rPr lang="en-US" altLang="en-US" b="1" dirty="0">
                <a:latin typeface="Perpetua" panose="02020502060401020303" pitchFamily="18" charset="0"/>
                <a:cs typeface="Times New Roman" panose="02020603050405020304" pitchFamily="18" charset="0"/>
              </a:rPr>
              <a:t>compiler</a:t>
            </a:r>
            <a:r>
              <a:rPr lang="en-US" altLang="en-US" dirty="0">
                <a:latin typeface="Perpetua" panose="02020502060401020303" pitchFamily="18" charset="0"/>
                <a:cs typeface="Times New Roman" panose="02020603050405020304" pitchFamily="18" charset="0"/>
              </a:rPr>
              <a:t> is used to translate the source program into a machine language program called an </a:t>
            </a:r>
            <a:r>
              <a:rPr lang="en-US" altLang="en-US" b="1" dirty="0">
                <a:latin typeface="Perpetua" panose="02020502060401020303" pitchFamily="18" charset="0"/>
                <a:cs typeface="Times New Roman" panose="02020603050405020304" pitchFamily="18" charset="0"/>
              </a:rPr>
              <a:t>object program</a:t>
            </a:r>
            <a:r>
              <a:rPr lang="en-US" altLang="en-US" dirty="0">
                <a:latin typeface="Perpetua" panose="02020502060401020303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altLang="en-US" dirty="0">
              <a:latin typeface="Perpetua" panose="02020502060401020303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Perpetua" panose="02020502060401020303" pitchFamily="18" charset="0"/>
                <a:cs typeface="Times New Roman" panose="02020603050405020304" pitchFamily="18" charset="0"/>
              </a:rPr>
              <a:t>With Java, you write the program once, and compile the source program into a special type of object code, known as </a:t>
            </a:r>
            <a:r>
              <a:rPr lang="en-US" altLang="en-US" b="1" dirty="0">
                <a:latin typeface="Perpetua" panose="02020502060401020303" pitchFamily="18" charset="0"/>
                <a:cs typeface="Times New Roman" panose="02020603050405020304" pitchFamily="18" charset="0"/>
              </a:rPr>
              <a:t>bytecode</a:t>
            </a:r>
            <a:r>
              <a:rPr lang="en-US" altLang="en-US" dirty="0">
                <a:latin typeface="Perpetua" panose="02020502060401020303" pitchFamily="18" charset="0"/>
                <a:cs typeface="Times New Roman" panose="02020603050405020304" pitchFamily="18" charset="0"/>
              </a:rPr>
              <a:t>. </a:t>
            </a:r>
          </a:p>
          <a:p>
            <a:endParaRPr lang="en-US" altLang="en-US" dirty="0">
              <a:latin typeface="Perpetua" panose="02020502060401020303" pitchFamily="18" charset="0"/>
              <a:cs typeface="Times New Roman" panose="02020603050405020304" pitchFamily="18" charset="0"/>
            </a:endParaRPr>
          </a:p>
          <a:p>
            <a:r>
              <a:rPr lang="en-US" altLang="en-US" dirty="0">
                <a:latin typeface="Perpetua" panose="02020502060401020303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b="1" dirty="0">
                <a:latin typeface="Perpetua" panose="02020502060401020303" pitchFamily="18" charset="0"/>
                <a:cs typeface="Times New Roman" panose="02020603050405020304" pitchFamily="18" charset="0"/>
              </a:rPr>
              <a:t>bytecode</a:t>
            </a:r>
            <a:r>
              <a:rPr lang="en-US" altLang="en-US" dirty="0">
                <a:latin typeface="Perpetua" panose="02020502060401020303" pitchFamily="18" charset="0"/>
                <a:cs typeface="Times New Roman" panose="02020603050405020304" pitchFamily="18" charset="0"/>
              </a:rPr>
              <a:t> can then run on any computer (platform) with a Java Virtual Machine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357" y="365126"/>
            <a:ext cx="10704443" cy="992620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8" name="Content Placeholder 2"/>
          <p:cNvSpPr txBox="1"/>
          <p:nvPr/>
        </p:nvSpPr>
        <p:spPr>
          <a:xfrm>
            <a:off x="649357" y="1497496"/>
            <a:ext cx="7818782" cy="4931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dirty="0">
                <a:latin typeface="Perpetua" panose="02020502060401020303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b="1" dirty="0">
                <a:latin typeface="Perpetua" panose="02020502060401020303" pitchFamily="18" charset="0"/>
                <a:cs typeface="Times New Roman" panose="02020603050405020304" pitchFamily="18" charset="0"/>
              </a:rPr>
              <a:t>virtual machine </a:t>
            </a:r>
            <a:r>
              <a:rPr lang="en-US" altLang="en-US" dirty="0">
                <a:latin typeface="Perpetua" panose="02020502060401020303" pitchFamily="18" charset="0"/>
                <a:cs typeface="Times New Roman" panose="02020603050405020304" pitchFamily="18" charset="0"/>
              </a:rPr>
              <a:t>is a software application that simulates a computer-JVM is one of the most widely used virtual machine</a:t>
            </a:r>
          </a:p>
          <a:p>
            <a:r>
              <a:rPr lang="en-US" altLang="en-US" dirty="0">
                <a:latin typeface="Perpetua" panose="02020502060401020303" pitchFamily="18" charset="0"/>
                <a:cs typeface="Times New Roman" panose="02020603050405020304" pitchFamily="18" charset="0"/>
              </a:rPr>
              <a:t>Java Virtual Machine, which is part of JRE,  is a software that interprets Java bytecode.</a:t>
            </a:r>
          </a:p>
          <a:p>
            <a:r>
              <a:rPr lang="en-US" altLang="en-US" sz="2500" dirty="0">
                <a:latin typeface="Perpetua" panose="02020502060401020303" pitchFamily="18" charset="0"/>
              </a:rPr>
              <a:t>To compile Java Program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500" b="1" i="1" dirty="0" err="1">
                <a:latin typeface="Perpetua" panose="02020502060401020303" pitchFamily="18" charset="0"/>
              </a:rPr>
              <a:t>Javac</a:t>
            </a:r>
            <a:r>
              <a:rPr lang="en-US" altLang="en-US" sz="2500" b="1" i="1" dirty="0">
                <a:latin typeface="Perpetua" panose="02020502060401020303" pitchFamily="18" charset="0"/>
              </a:rPr>
              <a:t> welcome.java</a:t>
            </a:r>
          </a:p>
          <a:p>
            <a:r>
              <a:rPr lang="en-US" altLang="en-US" sz="2500" dirty="0">
                <a:latin typeface="Perpetua" panose="02020502060401020303" pitchFamily="18" charset="0"/>
              </a:rPr>
              <a:t>To execute java programs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sz="2500" b="1" i="1" dirty="0">
                <a:latin typeface="Perpetua" panose="02020502060401020303" pitchFamily="18" charset="0"/>
              </a:rPr>
              <a:t>Java welcome</a:t>
            </a:r>
          </a:p>
        </p:txBody>
      </p:sp>
      <p:graphicFrame>
        <p:nvGraphicFramePr>
          <p:cNvPr id="9" name="Object 2"/>
          <p:cNvGraphicFramePr>
            <a:graphicFrameLocks noChangeAspect="1"/>
          </p:cNvGraphicFramePr>
          <p:nvPr/>
        </p:nvGraphicFramePr>
        <p:xfrm>
          <a:off x="8369093" y="1732860"/>
          <a:ext cx="3475038" cy="320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icture" r:id="rId2" imgW="1371600" imgH="1266825" progId="Word.Picture.8">
                  <p:embed/>
                </p:oleObj>
              </mc:Choice>
              <mc:Fallback>
                <p:oleObj name="Picture" r:id="rId2" imgW="1371600" imgH="1266825" progId="Word.Picture.8">
                  <p:embed/>
                  <p:pic>
                    <p:nvPicPr>
                      <p:cNvPr id="0" name="Picture 1024"/>
                      <p:cNvPicPr>
                        <a:picLocks noChangeAspect="1"/>
                      </p:cNvPicPr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8369093" y="1732860"/>
                        <a:ext cx="3475038" cy="3200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grpSp>
        <p:nvGrpSpPr>
          <p:cNvPr id="16" name="Content Placeholder 3"/>
          <p:cNvGrpSpPr>
            <a:grpSpLocks noGrp="1"/>
          </p:cNvGrpSpPr>
          <p:nvPr/>
        </p:nvGrpSpPr>
        <p:grpSpPr>
          <a:xfrm>
            <a:off x="1490869" y="2125831"/>
            <a:ext cx="8229600" cy="4104456"/>
            <a:chOff x="609600" y="2209800"/>
            <a:chExt cx="8077200" cy="2819400"/>
          </a:xfrm>
        </p:grpSpPr>
        <p:sp>
          <p:nvSpPr>
            <p:cNvPr id="17" name="AutoShape 1028"/>
            <p:cNvSpPr>
              <a:spLocks noChangeArrowheads="1"/>
            </p:cNvSpPr>
            <p:nvPr/>
          </p:nvSpPr>
          <p:spPr bwMode="auto">
            <a:xfrm>
              <a:off x="609600" y="3352800"/>
              <a:ext cx="1600200" cy="533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1800" b="1" dirty="0"/>
                <a:t>Java Program</a:t>
              </a:r>
            </a:p>
            <a:p>
              <a:pPr algn="ctr"/>
              <a:r>
                <a:rPr lang="en-US" sz="1800" b="1" dirty="0"/>
                <a:t>(*.java)</a:t>
              </a:r>
            </a:p>
          </p:txBody>
        </p:sp>
        <p:sp>
          <p:nvSpPr>
            <p:cNvPr id="18" name="AutoShape 1030"/>
            <p:cNvSpPr>
              <a:spLocks noChangeArrowheads="1"/>
            </p:cNvSpPr>
            <p:nvPr/>
          </p:nvSpPr>
          <p:spPr bwMode="auto">
            <a:xfrm>
              <a:off x="2667000" y="3352800"/>
              <a:ext cx="1600200" cy="533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1800" b="1" dirty="0"/>
                <a:t>Java Compiler</a:t>
              </a:r>
            </a:p>
            <a:p>
              <a:pPr algn="ctr"/>
              <a:r>
                <a:rPr lang="en-US" sz="1800" b="1" dirty="0" err="1"/>
                <a:t>javac</a:t>
              </a:r>
              <a:endParaRPr lang="en-US" sz="1800" b="1" dirty="0"/>
            </a:p>
          </p:txBody>
        </p:sp>
        <p:sp>
          <p:nvSpPr>
            <p:cNvPr id="19" name="AutoShape 1031"/>
            <p:cNvSpPr>
              <a:spLocks noChangeArrowheads="1"/>
            </p:cNvSpPr>
            <p:nvPr/>
          </p:nvSpPr>
          <p:spPr bwMode="auto">
            <a:xfrm>
              <a:off x="4800600" y="3352800"/>
              <a:ext cx="1600200" cy="533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1800" b="1" dirty="0"/>
                <a:t>Java Byte code</a:t>
              </a:r>
            </a:p>
            <a:p>
              <a:pPr algn="ctr"/>
              <a:r>
                <a:rPr lang="en-US" sz="1800" b="1" dirty="0"/>
                <a:t>(*.class)</a:t>
              </a:r>
            </a:p>
          </p:txBody>
        </p:sp>
        <p:sp>
          <p:nvSpPr>
            <p:cNvPr id="20" name="AutoShape 1032"/>
            <p:cNvSpPr>
              <a:spLocks noChangeArrowheads="1"/>
            </p:cNvSpPr>
            <p:nvPr/>
          </p:nvSpPr>
          <p:spPr bwMode="auto">
            <a:xfrm>
              <a:off x="7086600" y="2209800"/>
              <a:ext cx="1600200" cy="533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1800" b="1" dirty="0"/>
                <a:t>Windows PC</a:t>
              </a:r>
            </a:p>
            <a:p>
              <a:pPr algn="ctr"/>
              <a:r>
                <a:rPr lang="en-US" sz="1800" b="1" dirty="0"/>
                <a:t>Running JVM</a:t>
              </a:r>
            </a:p>
          </p:txBody>
        </p:sp>
        <p:sp>
          <p:nvSpPr>
            <p:cNvPr id="21" name="AutoShape 1033"/>
            <p:cNvSpPr>
              <a:spLocks noChangeArrowheads="1"/>
            </p:cNvSpPr>
            <p:nvPr/>
          </p:nvSpPr>
          <p:spPr bwMode="auto">
            <a:xfrm>
              <a:off x="7086600" y="3352800"/>
              <a:ext cx="1600200" cy="533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1800" b="1"/>
                <a:t>UNIX</a:t>
              </a:r>
            </a:p>
            <a:p>
              <a:pPr algn="ctr"/>
              <a:r>
                <a:rPr lang="en-US" sz="1800" b="1"/>
                <a:t>Running JVM</a:t>
              </a:r>
            </a:p>
          </p:txBody>
        </p:sp>
        <p:sp>
          <p:nvSpPr>
            <p:cNvPr id="22" name="AutoShape 1034"/>
            <p:cNvSpPr>
              <a:spLocks noChangeArrowheads="1"/>
            </p:cNvSpPr>
            <p:nvPr/>
          </p:nvSpPr>
          <p:spPr bwMode="auto">
            <a:xfrm>
              <a:off x="7086600" y="4495800"/>
              <a:ext cx="1600200" cy="533400"/>
            </a:xfrm>
            <a:prstGeom prst="roundRect">
              <a:avLst>
                <a:gd name="adj" fmla="val 16667"/>
              </a:avLst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pPr algn="ctr"/>
              <a:r>
                <a:rPr lang="en-US" sz="1800" b="1"/>
                <a:t>Macintosh</a:t>
              </a:r>
            </a:p>
            <a:p>
              <a:pPr algn="ctr"/>
              <a:r>
                <a:rPr lang="en-US" sz="1800" b="1"/>
                <a:t>Running JVM</a:t>
              </a:r>
            </a:p>
          </p:txBody>
        </p:sp>
        <p:cxnSp>
          <p:nvCxnSpPr>
            <p:cNvPr id="23" name="AutoShape 1035"/>
            <p:cNvCxnSpPr>
              <a:cxnSpLocks noChangeShapeType="1"/>
              <a:stCxn id="17" idx="3"/>
              <a:endCxn id="18" idx="1"/>
            </p:cNvCxnSpPr>
            <p:nvPr/>
          </p:nvCxnSpPr>
          <p:spPr bwMode="auto">
            <a:xfrm>
              <a:off x="2209800" y="3619500"/>
              <a:ext cx="457200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sm"/>
            </a:ln>
          </p:spPr>
        </p:cxnSp>
        <p:cxnSp>
          <p:nvCxnSpPr>
            <p:cNvPr id="24" name="AutoShape 1036"/>
            <p:cNvCxnSpPr>
              <a:cxnSpLocks noChangeShapeType="1"/>
              <a:stCxn id="18" idx="3"/>
              <a:endCxn id="19" idx="1"/>
            </p:cNvCxnSpPr>
            <p:nvPr/>
          </p:nvCxnSpPr>
          <p:spPr bwMode="auto">
            <a:xfrm>
              <a:off x="4267200" y="3619500"/>
              <a:ext cx="533400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sm"/>
            </a:ln>
          </p:spPr>
        </p:cxnSp>
        <p:cxnSp>
          <p:nvCxnSpPr>
            <p:cNvPr id="25" name="AutoShape 1037"/>
            <p:cNvCxnSpPr>
              <a:cxnSpLocks noChangeShapeType="1"/>
              <a:stCxn id="19" idx="3"/>
              <a:endCxn id="21" idx="1"/>
            </p:cNvCxnSpPr>
            <p:nvPr/>
          </p:nvCxnSpPr>
          <p:spPr bwMode="auto">
            <a:xfrm>
              <a:off x="6400800" y="3619500"/>
              <a:ext cx="685800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sm"/>
            </a:ln>
          </p:spPr>
        </p:cxnSp>
        <p:cxnSp>
          <p:nvCxnSpPr>
            <p:cNvPr id="26" name="AutoShape 1038"/>
            <p:cNvCxnSpPr>
              <a:cxnSpLocks noChangeShapeType="1"/>
              <a:stCxn id="19" idx="3"/>
              <a:endCxn id="20" idx="1"/>
            </p:cNvCxnSpPr>
            <p:nvPr/>
          </p:nvCxnSpPr>
          <p:spPr bwMode="auto">
            <a:xfrm flipV="1">
              <a:off x="6400800" y="2476500"/>
              <a:ext cx="685800" cy="114300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sm"/>
            </a:ln>
          </p:spPr>
        </p:cxnSp>
        <p:cxnSp>
          <p:nvCxnSpPr>
            <p:cNvPr id="27" name="AutoShape 1039"/>
            <p:cNvCxnSpPr>
              <a:cxnSpLocks noChangeShapeType="1"/>
              <a:stCxn id="19" idx="3"/>
              <a:endCxn id="22" idx="1"/>
            </p:cNvCxnSpPr>
            <p:nvPr/>
          </p:nvCxnSpPr>
          <p:spPr bwMode="auto">
            <a:xfrm>
              <a:off x="6400800" y="3619500"/>
              <a:ext cx="685800" cy="114300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sm"/>
            </a:ln>
          </p:spPr>
        </p:cxnSp>
      </p:grpSp>
      <p:grpSp>
        <p:nvGrpSpPr>
          <p:cNvPr id="28" name="Group 27"/>
          <p:cNvGrpSpPr/>
          <p:nvPr/>
        </p:nvGrpSpPr>
        <p:grpSpPr>
          <a:xfrm>
            <a:off x="2024269" y="1809198"/>
            <a:ext cx="7578725" cy="1524000"/>
            <a:chOff x="990600" y="1600200"/>
            <a:chExt cx="7578725" cy="1524000"/>
          </a:xfrm>
        </p:grpSpPr>
        <p:sp>
          <p:nvSpPr>
            <p:cNvPr id="29" name="Text Box 1041"/>
            <p:cNvSpPr txBox="1">
              <a:spLocks noChangeArrowheads="1"/>
            </p:cNvSpPr>
            <p:nvPr/>
          </p:nvSpPr>
          <p:spPr bwMode="auto">
            <a:xfrm>
              <a:off x="990600" y="2667000"/>
              <a:ext cx="874713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Code</a:t>
              </a:r>
            </a:p>
          </p:txBody>
        </p:sp>
        <p:sp>
          <p:nvSpPr>
            <p:cNvPr id="30" name="Text Box 1042"/>
            <p:cNvSpPr txBox="1">
              <a:spLocks noChangeArrowheads="1"/>
            </p:cNvSpPr>
            <p:nvPr/>
          </p:nvSpPr>
          <p:spPr bwMode="auto">
            <a:xfrm>
              <a:off x="2895600" y="2667000"/>
              <a:ext cx="1265238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Compile</a:t>
              </a:r>
            </a:p>
          </p:txBody>
        </p:sp>
        <p:sp>
          <p:nvSpPr>
            <p:cNvPr id="31" name="Text Box 1043"/>
            <p:cNvSpPr txBox="1">
              <a:spLocks noChangeArrowheads="1"/>
            </p:cNvSpPr>
            <p:nvPr/>
          </p:nvSpPr>
          <p:spPr bwMode="auto">
            <a:xfrm>
              <a:off x="5105400" y="2667000"/>
              <a:ext cx="1076325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Result</a:t>
              </a:r>
            </a:p>
          </p:txBody>
        </p:sp>
        <p:sp>
          <p:nvSpPr>
            <p:cNvPr id="32" name="Text Box 1044"/>
            <p:cNvSpPr txBox="1">
              <a:spLocks noChangeArrowheads="1"/>
            </p:cNvSpPr>
            <p:nvPr/>
          </p:nvSpPr>
          <p:spPr bwMode="auto">
            <a:xfrm>
              <a:off x="7315200" y="1600200"/>
              <a:ext cx="1254125" cy="457200"/>
            </a:xfrm>
            <a:prstGeom prst="rect">
              <a:avLst/>
            </a:prstGeom>
            <a:noFill/>
            <a:ln w="12700">
              <a:noFill/>
              <a:miter lim="800000"/>
              <a:headEnd type="none" w="sm" len="sm"/>
              <a:tailEnd type="none" w="sm" len="sm"/>
            </a:ln>
          </p:spPr>
          <p:txBody>
            <a:bodyPr wrap="none">
              <a:spAutoFit/>
            </a:bodyPr>
            <a:lstStyle/>
            <a:p>
              <a:r>
                <a:rPr lang="en-US" dirty="0"/>
                <a:t>Runs on</a:t>
              </a:r>
            </a:p>
          </p:txBody>
        </p:sp>
      </p:grp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Phase 3: Loading a program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5921" y="1587086"/>
            <a:ext cx="10823713" cy="4628184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A program must be placed in memory before it can execute : a process known as</a:t>
            </a:r>
            <a:r>
              <a:rPr lang="en-US" b="1" dirty="0">
                <a:latin typeface="Perpetua" panose="02020502060401020303" pitchFamily="18" charset="0"/>
              </a:rPr>
              <a:t> loading</a:t>
            </a:r>
            <a:r>
              <a:rPr lang="en-US" dirty="0">
                <a:latin typeface="Perpetua" panose="02020502060401020303" pitchFamily="18" charset="0"/>
              </a:rPr>
              <a:t>. </a:t>
            </a:r>
          </a:p>
          <a:p>
            <a:pPr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The class loader takes the .class file (produced during compilation process) containing  the program’s bytecodes and  transform them to primary memory.</a:t>
            </a:r>
          </a:p>
          <a:p>
            <a:pPr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The class loader also loads any of the .class files provided by java that your program uses.</a:t>
            </a:r>
          </a:p>
          <a:p>
            <a:pPr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The .class files can be loaded from a disk on your system or over a network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Phase 4 : Bytecode Verification 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797209" cy="4351338"/>
          </a:xfrm>
        </p:spPr>
        <p:txBody>
          <a:bodyPr/>
          <a:lstStyle/>
          <a:p>
            <a:pPr>
              <a:defRPr/>
            </a:pPr>
            <a:endParaRPr lang="en-US" sz="1050" dirty="0">
              <a:latin typeface="Perpetua" panose="02020502060401020303" pitchFamily="18" charset="0"/>
            </a:endParaRP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Involves examining bytecodes to ensure that they are valid and do not violate </a:t>
            </a:r>
            <a:r>
              <a:rPr lang="en-US" b="1" dirty="0">
                <a:latin typeface="Perpetua" panose="02020502060401020303" pitchFamily="18" charset="0"/>
              </a:rPr>
              <a:t>Java’s security restriction</a:t>
            </a:r>
            <a:r>
              <a:rPr lang="en-US" dirty="0">
                <a:latin typeface="Perpetua" panose="02020502060401020303" pitchFamily="18" charset="0"/>
              </a:rPr>
              <a:t>.</a:t>
            </a:r>
          </a:p>
          <a:p>
            <a:pPr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Java enforces strong security, to make sure that Java programs arriving over the network do not damage your files or your system (as computer viruses and worms might)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61" y="365125"/>
            <a:ext cx="10677939" cy="1325563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Phase 5: Execution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861" y="1524000"/>
            <a:ext cx="10853529" cy="5049078"/>
          </a:xfrm>
        </p:spPr>
        <p:txBody>
          <a:bodyPr>
            <a:normAutofit lnSpcReduction="10000"/>
          </a:bodyPr>
          <a:lstStyle/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The JVM executes the program’s bytecodes, thus performing the actions specified by the program.</a:t>
            </a:r>
          </a:p>
          <a:p>
            <a:pPr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.class file is not final machine code yet. It is virtual machine code. JVM need a second compilation to convert virtual machine code to real machine code. We call it just-in-time compiler (JIT). </a:t>
            </a:r>
          </a:p>
          <a:p>
            <a:pPr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This greatly affects the speed of the execution. </a:t>
            </a:r>
          </a:p>
          <a:p>
            <a:pPr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>
              <a:defRPr/>
            </a:pPr>
            <a:r>
              <a:rPr lang="en-US" dirty="0">
                <a:latin typeface="Perpetua" panose="02020502060401020303" pitchFamily="18" charset="0"/>
              </a:rPr>
              <a:t>Traditionally, our C/C++ program can finish all the compilation before execution. The generated machine code could run directly on OS or hardware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599" y="365125"/>
            <a:ext cx="11125201" cy="77787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</a:rPr>
              <a:t>A Simple Java Program</a:t>
            </a: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Content Placeholder 2"/>
          <p:cNvSpPr txBox="1"/>
          <p:nvPr/>
        </p:nvSpPr>
        <p:spPr>
          <a:xfrm>
            <a:off x="228599" y="1143000"/>
            <a:ext cx="11300792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2300" dirty="0">
                <a:latin typeface="Perpetua" panose="02020502060401020303" pitchFamily="18" charset="0"/>
              </a:rPr>
              <a:t>The following code  is a java program that prints the string </a:t>
            </a:r>
            <a:r>
              <a:rPr lang="en-US" sz="2300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</a:rPr>
              <a:t>“ </a:t>
            </a:r>
            <a:r>
              <a:rPr lang="en-US" sz="2300" i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</a:rPr>
              <a:t>Welcome to Java”. </a:t>
            </a:r>
            <a:r>
              <a:rPr lang="en-US" sz="2300" dirty="0">
                <a:latin typeface="Perpetua" panose="02020502060401020303" pitchFamily="18" charset="0"/>
              </a:rPr>
              <a:t>Now lets make a line by line investigation of the program</a:t>
            </a:r>
          </a:p>
          <a:p>
            <a:pPr>
              <a:buFont typeface="Monotype Sorts" pitchFamily="2" charset="2"/>
              <a:buChar char="F"/>
              <a:defRPr/>
            </a:pPr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4236" y="1920875"/>
            <a:ext cx="8652164" cy="47089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dirty="0">
                <a:latin typeface="Perpetua" panose="02020502060401020303" pitchFamily="18" charset="0"/>
              </a:rPr>
              <a:t>/*  Your first Java program; Welcome.java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dirty="0">
                <a:latin typeface="Perpetua" panose="02020502060401020303" pitchFamily="18" charset="0"/>
              </a:rPr>
              <a:t>    The program prints a string Welcome to Java Programming 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dirty="0">
                <a:latin typeface="Perpetua" panose="02020502060401020303" pitchFamily="18" charset="0"/>
              </a:rPr>
              <a:t>*/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b="1" i="1" dirty="0">
                <a:solidFill>
                  <a:srgbClr val="FF0000"/>
                </a:solidFill>
                <a:latin typeface="Perpetua" panose="02020502060401020303" pitchFamily="18" charset="0"/>
                <a:cs typeface="Courier New" pitchFamily="49" charset="0"/>
              </a:rPr>
              <a:t> public class Welcome {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dirty="0">
                <a:latin typeface="Perpetua" panose="02020502060401020303" pitchFamily="18" charset="0"/>
              </a:rPr>
              <a:t>     //main method begins execution of Java application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b="1" dirty="0">
                <a:solidFill>
                  <a:srgbClr val="FF0000"/>
                </a:solidFill>
                <a:latin typeface="Perpetua" panose="02020502060401020303" pitchFamily="18" charset="0"/>
              </a:rPr>
              <a:t>    </a:t>
            </a:r>
            <a:r>
              <a:rPr lang="en-US" sz="2000" b="1" i="1" dirty="0">
                <a:solidFill>
                  <a:srgbClr val="FF0000"/>
                </a:solidFill>
                <a:latin typeface="Perpetua" panose="02020502060401020303" pitchFamily="18" charset="0"/>
                <a:cs typeface="Courier New" pitchFamily="49" charset="0"/>
              </a:rPr>
              <a:t>public static void main (String </a:t>
            </a:r>
            <a:r>
              <a:rPr lang="en-US" sz="2000" b="1" i="1" dirty="0" err="1">
                <a:solidFill>
                  <a:srgbClr val="FF0000"/>
                </a:solidFill>
                <a:latin typeface="Perpetua" panose="02020502060401020303" pitchFamily="18" charset="0"/>
                <a:cs typeface="Courier New" pitchFamily="49" charset="0"/>
              </a:rPr>
              <a:t>args</a:t>
            </a:r>
            <a:r>
              <a:rPr lang="en-US" sz="2000" b="1" i="1" dirty="0">
                <a:solidFill>
                  <a:srgbClr val="FF0000"/>
                </a:solidFill>
                <a:latin typeface="Perpetua" panose="02020502060401020303" pitchFamily="18" charset="0"/>
                <a:cs typeface="Courier New" pitchFamily="49" charset="0"/>
              </a:rPr>
              <a:t>[])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b="1" i="1" dirty="0">
                <a:solidFill>
                  <a:srgbClr val="FF0000"/>
                </a:solidFill>
                <a:latin typeface="Perpetua" panose="02020502060401020303" pitchFamily="18" charset="0"/>
                <a:cs typeface="Courier New" pitchFamily="49" charset="0"/>
              </a:rPr>
              <a:t>   {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b="1" i="1" dirty="0">
                <a:solidFill>
                  <a:srgbClr val="FF0000"/>
                </a:solidFill>
                <a:latin typeface="Perpetua" panose="02020502060401020303" pitchFamily="18" charset="0"/>
                <a:cs typeface="Courier New" pitchFamily="49" charset="0"/>
              </a:rPr>
              <a:t>	 </a:t>
            </a:r>
            <a:r>
              <a:rPr lang="en-US" sz="2000" b="1" i="1" dirty="0" err="1">
                <a:solidFill>
                  <a:srgbClr val="FF0000"/>
                </a:solidFill>
                <a:latin typeface="Perpetua" panose="02020502060401020303" pitchFamily="18" charset="0"/>
                <a:cs typeface="Courier New" pitchFamily="49" charset="0"/>
              </a:rPr>
              <a:t>System.out.println</a:t>
            </a:r>
            <a:r>
              <a:rPr lang="en-US" sz="2000" b="1" i="1" dirty="0">
                <a:solidFill>
                  <a:srgbClr val="FF0000"/>
                </a:solidFill>
                <a:latin typeface="Perpetua" panose="02020502060401020303" pitchFamily="18" charset="0"/>
                <a:cs typeface="Courier New" pitchFamily="49" charset="0"/>
              </a:rPr>
              <a:t>(“Welcome to Java”);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dirty="0">
                <a:solidFill>
                  <a:srgbClr val="FF0000"/>
                </a:solidFill>
                <a:latin typeface="Perpetua" panose="02020502060401020303" pitchFamily="18" charset="0"/>
              </a:rPr>
              <a:t>      </a:t>
            </a:r>
            <a:r>
              <a:rPr lang="en-US" sz="2000" b="1" i="1" dirty="0">
                <a:solidFill>
                  <a:srgbClr val="FF0000"/>
                </a:solidFill>
                <a:latin typeface="Perpetua" panose="02020502060401020303" pitchFamily="18" charset="0"/>
              </a:rPr>
              <a:t>}</a:t>
            </a:r>
            <a:r>
              <a:rPr lang="en-US" sz="2000" dirty="0">
                <a:latin typeface="Perpetua" panose="02020502060401020303" pitchFamily="18" charset="0"/>
              </a:rPr>
              <a:t>//end  of main method</a:t>
            </a:r>
          </a:p>
          <a:p>
            <a:pPr marL="342900" indent="-342900" eaLnBrk="0" hangingPunct="0">
              <a:lnSpc>
                <a:spcPct val="150000"/>
              </a:lnSpc>
              <a:buFont typeface="+mj-lt"/>
              <a:buAutoNum type="arabicPeriod"/>
              <a:defRPr/>
            </a:pPr>
            <a:r>
              <a:rPr lang="en-US" sz="2000" b="1" i="1" dirty="0">
                <a:solidFill>
                  <a:srgbClr val="FF0000"/>
                </a:solidFill>
                <a:latin typeface="Perpetua" panose="02020502060401020303" pitchFamily="18" charset="0"/>
              </a:rPr>
              <a:t>  }</a:t>
            </a:r>
            <a:r>
              <a:rPr lang="en-US" sz="2000" dirty="0">
                <a:latin typeface="Perpetua" panose="02020502060401020303" pitchFamily="18" charset="0"/>
              </a:rPr>
              <a:t> //end of class Welcome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8039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13164"/>
            <a:ext cx="10770704" cy="5067149"/>
          </a:xfrm>
        </p:spPr>
        <p:txBody>
          <a:bodyPr>
            <a:normAutofit/>
          </a:bodyPr>
          <a:lstStyle/>
          <a:p>
            <a:r>
              <a:rPr lang="en-US" altLang="en-US" b="1" i="1" dirty="0">
                <a:latin typeface="Perpetua" panose="02020502060401020303" pitchFamily="18" charset="0"/>
              </a:rPr>
              <a:t>Lines 1-3 &amp; 5 comment lines</a:t>
            </a:r>
          </a:p>
          <a:p>
            <a:r>
              <a:rPr lang="en-US" altLang="en-US" dirty="0">
                <a:latin typeface="Perpetua" panose="02020502060401020303" pitchFamily="18" charset="0"/>
              </a:rPr>
              <a:t>There are two types of comments in Java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Perpetua" panose="02020502060401020303" pitchFamily="18" charset="0"/>
              </a:rPr>
              <a:t>End-of-line (Single line) comments</a:t>
            </a:r>
          </a:p>
          <a:p>
            <a:pPr lvl="2">
              <a:buClr>
                <a:schemeClr val="tx1"/>
              </a:buClr>
              <a:buFont typeface="Courier New" pitchFamily="49" charset="0"/>
              <a:buChar char="o"/>
            </a:pPr>
            <a:r>
              <a:rPr lang="en-US" altLang="en-US" dirty="0">
                <a:latin typeface="Perpetua" panose="02020502060401020303" pitchFamily="18" charset="0"/>
              </a:rPr>
              <a:t>A line that begins with </a:t>
            </a:r>
            <a:r>
              <a:rPr lang="en-US" altLang="en-US" b="1" dirty="0">
                <a:latin typeface="Perpetua" panose="02020502060401020303" pitchFamily="18" charset="0"/>
              </a:rPr>
              <a:t>//</a:t>
            </a:r>
            <a:r>
              <a:rPr lang="en-US" altLang="en-US" dirty="0">
                <a:latin typeface="Perpetua" panose="02020502060401020303" pitchFamily="18" charset="0"/>
              </a:rPr>
              <a:t> </a:t>
            </a:r>
          </a:p>
          <a:p>
            <a:pPr lvl="2">
              <a:buClr>
                <a:schemeClr val="tx1"/>
              </a:buClr>
              <a:buFont typeface="Courier New" pitchFamily="49" charset="0"/>
              <a:buChar char="o"/>
            </a:pPr>
            <a:endParaRPr lang="en-US" altLang="en-US" dirty="0">
              <a:latin typeface="Perpetua" panose="02020502060401020303" pitchFamily="18" charset="0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en-US" dirty="0">
                <a:latin typeface="Perpetua" panose="02020502060401020303" pitchFamily="18" charset="0"/>
              </a:rPr>
              <a:t>Traditional (Multiple line ) Comments</a:t>
            </a:r>
          </a:p>
          <a:p>
            <a:pPr lvl="2">
              <a:buClr>
                <a:schemeClr val="tx1"/>
              </a:buClr>
              <a:buFont typeface="Courier New" pitchFamily="49" charset="0"/>
              <a:buChar char="o"/>
            </a:pPr>
            <a:r>
              <a:rPr lang="en-US" altLang="en-US" sz="2500" dirty="0">
                <a:latin typeface="Perpetua" panose="02020502060401020303" pitchFamily="18" charset="0"/>
              </a:rPr>
              <a:t>A text that begins in </a:t>
            </a:r>
            <a:r>
              <a:rPr lang="en-US" altLang="en-US" sz="2500" b="1" dirty="0">
                <a:latin typeface="Perpetua" panose="02020502060401020303" pitchFamily="18" charset="0"/>
              </a:rPr>
              <a:t>/*</a:t>
            </a:r>
            <a:r>
              <a:rPr lang="en-US" altLang="en-US" sz="2500" dirty="0">
                <a:latin typeface="Perpetua" panose="02020502060401020303" pitchFamily="18" charset="0"/>
              </a:rPr>
              <a:t> ends in </a:t>
            </a:r>
            <a:r>
              <a:rPr lang="en-US" altLang="en-US" sz="2500" b="1" dirty="0">
                <a:latin typeface="Perpetua" panose="02020502060401020303" pitchFamily="18" charset="0"/>
              </a:rPr>
              <a:t>*/</a:t>
            </a:r>
          </a:p>
          <a:p>
            <a:pPr lvl="2">
              <a:buClr>
                <a:schemeClr val="tx1"/>
              </a:buClr>
              <a:buFont typeface="Courier New" pitchFamily="49" charset="0"/>
              <a:buChar char="o"/>
            </a:pPr>
            <a:r>
              <a:rPr lang="en-US" altLang="en-US" sz="2500" dirty="0">
                <a:latin typeface="Perpetua" panose="02020502060401020303" pitchFamily="18" charset="0"/>
              </a:rPr>
              <a:t>All text between these delimiters is comment so it is ignored by the compiler.</a:t>
            </a:r>
          </a:p>
          <a:p>
            <a:pPr lvl="2">
              <a:buClr>
                <a:schemeClr val="tx1"/>
              </a:buClr>
              <a:buFont typeface="Courier New" pitchFamily="49" charset="0"/>
              <a:buChar char="o"/>
            </a:pPr>
            <a:r>
              <a:rPr lang="en-US" altLang="en-US" sz="2500" dirty="0">
                <a:latin typeface="Perpetua" panose="02020502060401020303" pitchFamily="18" charset="0"/>
              </a:rPr>
              <a:t>These comment can be applied for a line, more than a lines or part(s) of a line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7311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Perpetua" panose="02020502060401020303" pitchFamily="18" charset="0"/>
              </a:rPr>
              <a:t>Javadoc comments </a:t>
            </a:r>
          </a:p>
          <a:p>
            <a:pPr lvl="1">
              <a:buFontTx/>
              <a:buNone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2">
              <a:buFont typeface="Courier New" pitchFamily="49" charset="0"/>
              <a:buChar char="o"/>
              <a:defRPr/>
            </a:pPr>
            <a:r>
              <a:rPr lang="en-US" sz="2500" dirty="0">
                <a:latin typeface="Perpetua" panose="02020502060401020303" pitchFamily="18" charset="0"/>
              </a:rPr>
              <a:t>A text that begins in /** and ends in*/</a:t>
            </a:r>
          </a:p>
          <a:p>
            <a:pPr lvl="2">
              <a:buFont typeface="Courier New" pitchFamily="49" charset="0"/>
              <a:buChar char="o"/>
              <a:defRPr/>
            </a:pPr>
            <a:endParaRPr lang="en-US" sz="2500" dirty="0">
              <a:latin typeface="Perpetua" panose="02020502060401020303" pitchFamily="18" charset="0"/>
            </a:endParaRPr>
          </a:p>
          <a:p>
            <a:pPr lvl="2">
              <a:buFont typeface="Courier New" pitchFamily="49" charset="0"/>
              <a:buChar char="o"/>
              <a:defRPr/>
            </a:pPr>
            <a:r>
              <a:rPr lang="en-US" sz="2500" dirty="0">
                <a:latin typeface="Perpetua" panose="02020502060401020303" pitchFamily="18" charset="0"/>
              </a:rPr>
              <a:t>As with traditional comments, all text between the Javadoc comment delimiters is ignored by the compiler.</a:t>
            </a:r>
          </a:p>
          <a:p>
            <a:pPr lvl="2">
              <a:buFont typeface="Courier New" pitchFamily="49" charset="0"/>
              <a:buChar char="o"/>
              <a:defRPr/>
            </a:pPr>
            <a:endParaRPr lang="en-US" sz="2500" dirty="0">
              <a:latin typeface="Perpetua" panose="02020502060401020303" pitchFamily="18" charset="0"/>
            </a:endParaRPr>
          </a:p>
          <a:p>
            <a:pPr lvl="2">
              <a:buFont typeface="Courier New" pitchFamily="49" charset="0"/>
              <a:buChar char="o"/>
              <a:defRPr/>
            </a:pPr>
            <a:r>
              <a:rPr lang="en-US" sz="2500" dirty="0">
                <a:latin typeface="Perpetua" panose="02020502060401020303" pitchFamily="18" charset="0"/>
              </a:rPr>
              <a:t>Javadoc comments enable programmers to embed program documentation directly in their programs.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4184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30017"/>
            <a:ext cx="10515600" cy="4546946"/>
          </a:xfrm>
        </p:spPr>
        <p:txBody>
          <a:bodyPr/>
          <a:lstStyle/>
          <a:p>
            <a:pPr>
              <a:defRPr/>
            </a:pPr>
            <a:r>
              <a:rPr lang="en-US" b="1" dirty="0">
                <a:latin typeface="Perpetua" panose="02020502060401020303" pitchFamily="18" charset="0"/>
              </a:rPr>
              <a:t>Line 4: </a:t>
            </a:r>
            <a:r>
              <a:rPr lang="en-US" b="1" i="1" dirty="0">
                <a:latin typeface="Perpetua" panose="02020502060401020303" pitchFamily="18" charset="0"/>
                <a:cs typeface="Courier New" pitchFamily="49" charset="0"/>
              </a:rPr>
              <a:t>public class Welcome {</a:t>
            </a:r>
          </a:p>
          <a:p>
            <a:pPr>
              <a:buFont typeface="Monotype Sorts" pitchFamily="2" charset="2"/>
              <a:buChar char="F"/>
              <a:defRPr/>
            </a:pPr>
            <a:endParaRPr lang="en-US" b="1" i="1" dirty="0">
              <a:latin typeface="Perpetua" panose="02020502060401020303" pitchFamily="18" charset="0"/>
              <a:cs typeface="Courier New" pitchFamily="49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Perpetua" panose="02020502060401020303" pitchFamily="18" charset="0"/>
              </a:rPr>
              <a:t>This line begins class declaration of the class Welcome.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Perpetua" panose="02020502060401020303" pitchFamily="18" charset="0"/>
              </a:rPr>
              <a:t>Every program in Java consists of at least one class declaration .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i="1" dirty="0">
                <a:latin typeface="Perpetua" panose="02020502060401020303" pitchFamily="18" charset="0"/>
              </a:rPr>
              <a:t>Generally, Java class declaration has the following format:</a:t>
            </a:r>
          </a:p>
          <a:p>
            <a:pPr lvl="2">
              <a:buFont typeface="Monotype Sorts" pitchFamily="2" charset="2"/>
              <a:buNone/>
              <a:defRPr/>
            </a:pPr>
            <a:r>
              <a:rPr lang="en-US" sz="3000" b="1" dirty="0">
                <a:latin typeface="Perpetua" panose="02020502060401020303" pitchFamily="18" charset="0"/>
              </a:rPr>
              <a:t>[Access level Specifier]  class </a:t>
            </a:r>
            <a:r>
              <a:rPr lang="en-US" sz="3000" b="1" i="1" dirty="0" err="1">
                <a:latin typeface="Perpetua" panose="02020502060401020303" pitchFamily="18" charset="0"/>
              </a:rPr>
              <a:t>class_name</a:t>
            </a:r>
            <a:r>
              <a:rPr lang="en-US" sz="3000" b="1" dirty="0">
                <a:latin typeface="Perpetua" panose="02020502060401020303" pitchFamily="18" charset="0"/>
              </a:rPr>
              <a:t> { … }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72730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Perpetua" panose="02020502060401020303" pitchFamily="18" charset="0"/>
              </a:rPr>
              <a:t>The class is the essential Java construct. A class is a template or blueprint for objects.</a:t>
            </a:r>
          </a:p>
          <a:p>
            <a:endParaRPr lang="en-US" altLang="en-US" dirty="0">
              <a:latin typeface="Perpetua" panose="02020502060401020303" pitchFamily="18" charset="0"/>
            </a:endParaRPr>
          </a:p>
          <a:p>
            <a:r>
              <a:rPr lang="en-US" altLang="en-US" dirty="0">
                <a:latin typeface="Perpetua" panose="02020502060401020303" pitchFamily="18" charset="0"/>
              </a:rPr>
              <a:t>To program in Java, you must understand classes and be able to write and use them. </a:t>
            </a:r>
          </a:p>
          <a:p>
            <a:endParaRPr lang="en-US" altLang="en-US" dirty="0">
              <a:latin typeface="Perpetua" panose="02020502060401020303" pitchFamily="18" charset="0"/>
            </a:endParaRPr>
          </a:p>
          <a:p>
            <a:r>
              <a:rPr lang="en-US" altLang="en-US" dirty="0">
                <a:latin typeface="Perpetua" panose="02020502060401020303" pitchFamily="18" charset="0"/>
              </a:rPr>
              <a:t>The mystery of the class will continue to be unveiled throughout this course. For now, though, understand that a program is defined by using one or more classes. 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89602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3000" b="1" dirty="0">
                <a:latin typeface="Perpetua" panose="02020502060401020303" pitchFamily="18" charset="0"/>
              </a:rPr>
              <a:t>Access level Specifier 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Perpetua" panose="02020502060401020303" pitchFamily="18" charset="0"/>
              </a:rPr>
              <a:t>Could be omitted (none), </a:t>
            </a:r>
            <a:r>
              <a:rPr lang="en-US" b="1" dirty="0">
                <a:latin typeface="Perpetua" panose="02020502060401020303" pitchFamily="18" charset="0"/>
              </a:rPr>
              <a:t>public</a:t>
            </a:r>
            <a:r>
              <a:rPr lang="en-US" dirty="0">
                <a:latin typeface="Perpetua" panose="02020502060401020303" pitchFamily="18" charset="0"/>
              </a:rPr>
              <a:t>, </a:t>
            </a:r>
            <a:r>
              <a:rPr lang="en-US" b="1" dirty="0">
                <a:latin typeface="Perpetua" panose="02020502060401020303" pitchFamily="18" charset="0"/>
              </a:rPr>
              <a:t>private, </a:t>
            </a:r>
            <a:r>
              <a:rPr lang="en-US" dirty="0">
                <a:latin typeface="Perpetua" panose="02020502060401020303" pitchFamily="18" charset="0"/>
              </a:rPr>
              <a:t>or  </a:t>
            </a:r>
            <a:r>
              <a:rPr lang="en-US" b="1" dirty="0">
                <a:latin typeface="Perpetua" panose="02020502060401020303" pitchFamily="18" charset="0"/>
              </a:rPr>
              <a:t>protected</a:t>
            </a:r>
          </a:p>
          <a:p>
            <a:pPr lvl="1">
              <a:buFontTx/>
              <a:buNone/>
              <a:defRPr/>
            </a:pPr>
            <a:endParaRPr lang="en-US" b="1" dirty="0">
              <a:latin typeface="Perpetua" panose="02020502060401020303" pitchFamily="18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Perpetua" panose="02020502060401020303" pitchFamily="18" charset="0"/>
              </a:rPr>
              <a:t>These are keywords that help to set the</a:t>
            </a:r>
            <a:r>
              <a:rPr lang="en-US" b="1" i="1" dirty="0">
                <a:latin typeface="Perpetua" panose="02020502060401020303" pitchFamily="18" charset="0"/>
              </a:rPr>
              <a:t> visibility </a:t>
            </a:r>
            <a:r>
              <a:rPr lang="en-US" dirty="0">
                <a:latin typeface="Perpetua" panose="02020502060401020303" pitchFamily="18" charset="0"/>
              </a:rPr>
              <a:t>and </a:t>
            </a:r>
            <a:r>
              <a:rPr lang="en-US" b="1" i="1" dirty="0">
                <a:latin typeface="Perpetua" panose="02020502060401020303" pitchFamily="18" charset="0"/>
              </a:rPr>
              <a:t>accessibility</a:t>
            </a:r>
            <a:r>
              <a:rPr lang="en-US" i="1" dirty="0">
                <a:latin typeface="Perpetua" panose="02020502060401020303" pitchFamily="18" charset="0"/>
              </a:rPr>
              <a:t> </a:t>
            </a:r>
            <a:r>
              <a:rPr lang="en-US" dirty="0">
                <a:latin typeface="Perpetua" panose="02020502060401020303" pitchFamily="18" charset="0"/>
              </a:rPr>
              <a:t>of a class, its member variables, and methods.</a:t>
            </a:r>
          </a:p>
          <a:p>
            <a:pPr lvl="1">
              <a:buFontTx/>
              <a:buNone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Perpetua" panose="02020502060401020303" pitchFamily="18" charset="0"/>
              </a:rPr>
              <a:t>They determine whether a field or method in a class, can be used or invoked by another method in another class or sub-class. 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4184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6765"/>
            <a:ext cx="10515600" cy="4560198"/>
          </a:xfrm>
        </p:spPr>
        <p:txBody>
          <a:bodyPr/>
          <a:lstStyle/>
          <a:p>
            <a:pPr>
              <a:defRPr/>
            </a:pPr>
            <a:r>
              <a:rPr lang="en-US" b="1" i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class</a:t>
            </a:r>
            <a:r>
              <a:rPr lang="en-US" dirty="0">
                <a:latin typeface="Perpetua" panose="02020502060401020303" pitchFamily="18" charset="0"/>
              </a:rPr>
              <a:t> </a:t>
            </a:r>
          </a:p>
          <a:p>
            <a:pPr lvl="1">
              <a:defRPr/>
            </a:pPr>
            <a:r>
              <a:rPr lang="en-US" dirty="0">
                <a:latin typeface="Perpetua" panose="02020502060401020303" pitchFamily="18" charset="0"/>
              </a:rPr>
              <a:t>The class keyword introduces a class declaration in Java and is immediately followed by the class name (Welcome).</a:t>
            </a:r>
          </a:p>
          <a:p>
            <a:pPr lvl="1"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>
              <a:defRPr/>
            </a:pPr>
            <a:r>
              <a:rPr lang="en-US" b="1" i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class_Name</a:t>
            </a:r>
          </a:p>
          <a:p>
            <a:pPr lvl="1">
              <a:defRPr/>
            </a:pPr>
            <a:r>
              <a:rPr lang="en-US" dirty="0">
                <a:latin typeface="Perpetua" panose="02020502060401020303" pitchFamily="18" charset="0"/>
              </a:rPr>
              <a:t>Is the name of a class. A Java class name is an identifier.</a:t>
            </a:r>
          </a:p>
          <a:p>
            <a:pPr lvl="1">
              <a:defRPr/>
            </a:pPr>
            <a:r>
              <a:rPr lang="en-US" dirty="0">
                <a:latin typeface="Perpetua" panose="02020502060401020303" pitchFamily="18" charset="0"/>
              </a:rPr>
              <a:t>By convention class names should start with capital letters</a:t>
            </a:r>
          </a:p>
          <a:p>
            <a:pPr lvl="1">
              <a:defRPr/>
            </a:pPr>
            <a:r>
              <a:rPr lang="en-US" dirty="0">
                <a:latin typeface="Perpetua" panose="02020502060401020303" pitchFamily="18" charset="0"/>
              </a:rPr>
              <a:t>Java is case Sensitive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8875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69774"/>
            <a:ext cx="10515600" cy="4863548"/>
          </a:xfrm>
        </p:spPr>
        <p:txBody>
          <a:bodyPr/>
          <a:lstStyle/>
          <a:p>
            <a:pPr>
              <a:defRPr/>
            </a:pPr>
            <a:r>
              <a:rPr lang="en-US" sz="3000" b="1" i="1" dirty="0">
                <a:latin typeface="Perpetua" panose="02020502060401020303" pitchFamily="18" charset="0"/>
              </a:rPr>
              <a:t>Line 6: </a:t>
            </a:r>
            <a:r>
              <a:rPr lang="en-US" sz="2400" b="1" i="1" dirty="0">
                <a:latin typeface="Perpetua" panose="02020502060401020303" pitchFamily="18" charset="0"/>
                <a:cs typeface="Courier New" pitchFamily="49" charset="0"/>
              </a:rPr>
              <a:t>public static void main(String </a:t>
            </a:r>
            <a:r>
              <a:rPr lang="en-US" sz="2400" b="1" i="1" dirty="0" err="1">
                <a:latin typeface="Perpetua" panose="02020502060401020303" pitchFamily="18" charset="0"/>
                <a:cs typeface="Courier New" pitchFamily="49" charset="0"/>
              </a:rPr>
              <a:t>args</a:t>
            </a:r>
            <a:r>
              <a:rPr lang="en-US" sz="2400" b="1" i="1" dirty="0">
                <a:latin typeface="Perpetua" panose="02020502060401020303" pitchFamily="18" charset="0"/>
                <a:cs typeface="Courier New" pitchFamily="49" charset="0"/>
              </a:rPr>
              <a:t>[])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Perpetua" panose="02020502060401020303" pitchFamily="18" charset="0"/>
              </a:rPr>
              <a:t>Is a method of which the starting point of every java application. </a:t>
            </a:r>
          </a:p>
          <a:p>
            <a:pPr lvl="1">
              <a:buFontTx/>
              <a:buNone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Perpetua" panose="02020502060401020303" pitchFamily="18" charset="0"/>
              </a:rPr>
              <a:t>Every Java application must contain one main method.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Perpetua" panose="02020502060401020303" pitchFamily="18" charset="0"/>
              </a:rPr>
              <a:t>public  is a keyword which specifies access level of the method.</a:t>
            </a:r>
          </a:p>
          <a:p>
            <a:pPr lvl="1">
              <a:buFont typeface="Wingdings" panose="05000000000000000000" pitchFamily="2" charset="2"/>
              <a:buChar char="§"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dirty="0">
                <a:latin typeface="Perpetua" panose="02020502060401020303" pitchFamily="18" charset="0"/>
              </a:rPr>
              <a:t>The JVM executes the application by invoking the </a:t>
            </a:r>
            <a:r>
              <a:rPr lang="en-US" b="1" dirty="0">
                <a:latin typeface="Perpetua" panose="02020502060401020303" pitchFamily="18" charset="0"/>
              </a:rPr>
              <a:t>main </a:t>
            </a:r>
            <a:r>
              <a:rPr lang="en-US" dirty="0">
                <a:latin typeface="Perpetua" panose="02020502060401020303" pitchFamily="18" charset="0"/>
              </a:rPr>
              <a:t>method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75748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63757"/>
            <a:ext cx="10515600" cy="4916556"/>
          </a:xfrm>
        </p:spPr>
        <p:txBody>
          <a:bodyPr/>
          <a:lstStyle/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b="1" i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static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</a:rPr>
              <a:t> </a:t>
            </a:r>
            <a:r>
              <a:rPr lang="en-US" dirty="0">
                <a:latin typeface="Perpetua" panose="02020502060401020303" pitchFamily="18" charset="0"/>
              </a:rPr>
              <a:t>is another keyword which allows </a:t>
            </a:r>
            <a:r>
              <a:rPr lang="en-US" b="1" dirty="0">
                <a:latin typeface="Perpetua" panose="02020502060401020303" pitchFamily="18" charset="0"/>
              </a:rPr>
              <a:t>main( ) </a:t>
            </a:r>
            <a:r>
              <a:rPr lang="en-US" dirty="0">
                <a:latin typeface="Perpetua" panose="02020502060401020303" pitchFamily="18" charset="0"/>
              </a:rPr>
              <a:t>to be called without having to instantiate a particular instance of the class. </a:t>
            </a:r>
          </a:p>
          <a:p>
            <a:pPr marL="457200" lvl="1" indent="0">
              <a:buNone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void</a:t>
            </a:r>
            <a:r>
              <a:rPr lang="en-US" dirty="0">
                <a:latin typeface="Perpetua" panose="02020502060401020303" pitchFamily="18" charset="0"/>
              </a:rPr>
              <a:t> is a return type that indicates that this method performs a task but will not return any information when it completes its task.</a:t>
            </a:r>
          </a:p>
          <a:p>
            <a:pPr lvl="1">
              <a:buFontTx/>
              <a:buNone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1">
              <a:buFont typeface="Wingdings" panose="05000000000000000000" pitchFamily="2" charset="2"/>
              <a:buChar char="§"/>
              <a:defRPr/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String 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args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[] </a:t>
            </a:r>
            <a:r>
              <a:rPr lang="en-US" b="1" dirty="0">
                <a:latin typeface="Perpetua" panose="02020502060401020303" pitchFamily="18" charset="0"/>
              </a:rPr>
              <a:t>… </a:t>
            </a:r>
            <a:r>
              <a:rPr lang="en-US" dirty="0">
                <a:latin typeface="Perpetua" panose="02020502060401020303" pitchFamily="18" charset="0"/>
              </a:rPr>
              <a:t>is an array of strings which is an argument of the main function.</a:t>
            </a: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3348"/>
          </a:xfrm>
        </p:spPr>
        <p:txBody>
          <a:bodyPr/>
          <a:lstStyle/>
          <a:p>
            <a:r>
              <a:rPr lang="en-US" b="1" dirty="0">
                <a:latin typeface="Perpetua" panose="02020502060401020303" pitchFamily="18" charset="0"/>
              </a:rPr>
              <a:t>Continued…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3827" y="1427018"/>
            <a:ext cx="11343860" cy="4987637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defRPr/>
            </a:pPr>
            <a:r>
              <a:rPr lang="en-US" b="1" i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Line 7: </a:t>
            </a:r>
            <a:r>
              <a:rPr lang="en-US" b="1" i="1" dirty="0" err="1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System.out.println</a:t>
            </a:r>
            <a:r>
              <a:rPr lang="en-US" b="1" i="1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( "Welcome to Java Programming!" );</a:t>
            </a:r>
          </a:p>
          <a:p>
            <a:pPr>
              <a:spcBef>
                <a:spcPts val="0"/>
              </a:spcBef>
              <a:defRPr/>
            </a:pPr>
            <a:endParaRPr lang="en-US" dirty="0">
              <a:solidFill>
                <a:schemeClr val="tx2">
                  <a:lumMod val="75000"/>
                </a:schemeClr>
              </a:solidFill>
              <a:latin typeface="Perpetua" panose="02020502060401020303" pitchFamily="18" charset="0"/>
            </a:endParaRPr>
          </a:p>
          <a:p>
            <a:pPr lvl="1">
              <a:buSzPct val="105000"/>
              <a:defRPr/>
            </a:pPr>
            <a:r>
              <a:rPr lang="en-US" dirty="0">
                <a:latin typeface="Perpetua" panose="02020502060401020303" pitchFamily="18" charset="0"/>
              </a:rPr>
              <a:t>This line prints the string contained in quotation.</a:t>
            </a:r>
          </a:p>
          <a:p>
            <a:pPr lvl="1">
              <a:buSzPct val="105000"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1">
              <a:buSzPct val="105000"/>
              <a:defRPr/>
            </a:pP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System.out</a:t>
            </a:r>
            <a:r>
              <a:rPr lang="en-US" dirty="0">
                <a:latin typeface="Perpetua" panose="02020502060401020303" pitchFamily="18" charset="0"/>
              </a:rPr>
              <a:t> is known as the standard output object.</a:t>
            </a:r>
          </a:p>
          <a:p>
            <a:pPr lvl="1">
              <a:buSzPct val="105000"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pPr lvl="1">
              <a:buSzPct val="105000"/>
              <a:defRPr/>
            </a:pPr>
            <a:r>
              <a:rPr lang="en-US" dirty="0">
                <a:latin typeface="Perpetua" panose="02020502060401020303" pitchFamily="18" charset="0"/>
              </a:rPr>
              <a:t>When </a:t>
            </a:r>
            <a:r>
              <a:rPr lang="en-US" b="1" i="1" dirty="0" err="1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System.out.println</a:t>
            </a:r>
            <a:r>
              <a:rPr lang="en-US" dirty="0">
                <a:latin typeface="Perpetua" panose="02020502060401020303" pitchFamily="18" charset="0"/>
              </a:rPr>
              <a:t> completes its task, it positions the output cursor (the location where the next character will be displayed) to the beginning of the next line while </a:t>
            </a:r>
            <a:r>
              <a:rPr lang="en-US" b="1" dirty="0" err="1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  <a:cs typeface="Courier New" pitchFamily="49" charset="0"/>
              </a:rPr>
              <a:t>System.out.print</a:t>
            </a:r>
            <a:r>
              <a:rPr lang="en-US" b="1" dirty="0">
                <a:latin typeface="Perpetua" panose="02020502060401020303" pitchFamily="18" charset="0"/>
              </a:rPr>
              <a:t> </a:t>
            </a:r>
            <a:r>
              <a:rPr lang="en-US" dirty="0">
                <a:latin typeface="Perpetua" panose="02020502060401020303" pitchFamily="18" charset="0"/>
              </a:rPr>
              <a:t>don’t.</a:t>
            </a:r>
          </a:p>
          <a:p>
            <a:pPr marL="857250" lvl="2" indent="-457200">
              <a:buClr>
                <a:schemeClr val="tx2"/>
              </a:buClr>
              <a:buSzPct val="75000"/>
              <a:defRPr/>
            </a:pPr>
            <a:r>
              <a:rPr lang="en-US" sz="2800" dirty="0">
                <a:latin typeface="Perpetua" panose="02020502060401020303" pitchFamily="18" charset="0"/>
              </a:rPr>
              <a:t>Every statement of java must end in semicolon (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</a:rPr>
              <a:t>;</a:t>
            </a:r>
            <a:r>
              <a:rPr lang="en-US" sz="2800" dirty="0">
                <a:latin typeface="Perpetua" panose="02020502060401020303" pitchFamily="18" charset="0"/>
              </a:rPr>
              <a:t>) so is line 7</a:t>
            </a:r>
          </a:p>
          <a:p>
            <a:pPr>
              <a:defRPr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Perpetua" panose="02020502060401020303" pitchFamily="18" charset="0"/>
              </a:rPr>
              <a:t>Lines  8 and 9</a:t>
            </a:r>
          </a:p>
          <a:p>
            <a:pPr lvl="1">
              <a:buSzPct val="120000"/>
              <a:defRPr/>
            </a:pPr>
            <a:r>
              <a:rPr lang="en-US" dirty="0">
                <a:latin typeface="Perpetua" panose="02020502060401020303" pitchFamily="18" charset="0"/>
              </a:rPr>
              <a:t> This line depicts the end of the main method  and the class welcome.</a:t>
            </a:r>
          </a:p>
          <a:p>
            <a:pPr lvl="1">
              <a:buSzPct val="105000"/>
              <a:buFont typeface="Wingdings" panose="05000000000000000000" pitchFamily="2" charset="2"/>
              <a:buChar char="§"/>
              <a:defRPr/>
            </a:pPr>
            <a:endParaRPr lang="en-US" dirty="0">
              <a:latin typeface="Perpetua" panose="02020502060401020303" pitchFamily="18" charset="0"/>
            </a:endParaRPr>
          </a:p>
          <a:p>
            <a:endParaRPr lang="en-US" dirty="0">
              <a:latin typeface="Perpetua" panose="02020502060401020303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D971BD-5E81-4DCA-8392-29DA2E56A5A9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2219</Words>
  <Application>Microsoft Office PowerPoint</Application>
  <PresentationFormat>Widescreen</PresentationFormat>
  <Paragraphs>246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Calibri</vt:lpstr>
      <vt:lpstr>Calibri Light</vt:lpstr>
      <vt:lpstr>Courier New</vt:lpstr>
      <vt:lpstr>Monotype Sorts</vt:lpstr>
      <vt:lpstr>Perpetua</vt:lpstr>
      <vt:lpstr>Times New Roman</vt:lpstr>
      <vt:lpstr>Wingdings</vt:lpstr>
      <vt:lpstr>Office Theme</vt:lpstr>
      <vt:lpstr>Picture</vt:lpstr>
      <vt:lpstr>chapter 1:Introduction of OOP</vt:lpstr>
      <vt:lpstr>Continued…</vt:lpstr>
      <vt:lpstr>Continued…</vt:lpstr>
      <vt:lpstr>Java Development Kit (JDK)</vt:lpstr>
      <vt:lpstr>JDK Editions</vt:lpstr>
      <vt:lpstr>Java Runtime Environment (JRE)</vt:lpstr>
      <vt:lpstr>Why Java?</vt:lpstr>
      <vt:lpstr>Features of Java</vt:lpstr>
      <vt:lpstr>Object oriented</vt:lpstr>
      <vt:lpstr>Multithreaded</vt:lpstr>
      <vt:lpstr>Phases of a Java Program </vt:lpstr>
      <vt:lpstr>PowerPoint Presentation</vt:lpstr>
      <vt:lpstr>Phase 1: Creating a program</vt:lpstr>
      <vt:lpstr>Phase 2: Compiling Java Programs into Bytecodes</vt:lpstr>
      <vt:lpstr>Continued…</vt:lpstr>
      <vt:lpstr>Continued…</vt:lpstr>
      <vt:lpstr>Phase 3: Loading a program</vt:lpstr>
      <vt:lpstr>Phase 4 : Bytecode Verification </vt:lpstr>
      <vt:lpstr>Phase 5: Execution</vt:lpstr>
      <vt:lpstr>A Simple Java Program</vt:lpstr>
      <vt:lpstr>Continued…</vt:lpstr>
      <vt:lpstr>Continued…</vt:lpstr>
      <vt:lpstr>Continued…</vt:lpstr>
      <vt:lpstr>Continued….</vt:lpstr>
      <vt:lpstr>Continued…</vt:lpstr>
      <vt:lpstr>Continued…</vt:lpstr>
      <vt:lpstr>Continued…</vt:lpstr>
      <vt:lpstr>Continued…</vt:lpstr>
      <vt:lpstr>Continued…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of Java</dc:title>
  <dc:creator>Getaneh</dc:creator>
  <cp:lastModifiedBy>abe</cp:lastModifiedBy>
  <cp:revision>62</cp:revision>
  <dcterms:created xsi:type="dcterms:W3CDTF">2024-01-27T19:25:01Z</dcterms:created>
  <dcterms:modified xsi:type="dcterms:W3CDTF">2024-03-03T23:19:07Z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1033-11.1.0.11698</vt:lpwstr>
  </property>
</Properties>
</file>