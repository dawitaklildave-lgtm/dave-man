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5" r:id="rId48"/>
    <p:sldId id="306" r:id="rId49"/>
    <p:sldId id="316" r:id="rId50"/>
    <p:sldId id="317" r:id="rId51"/>
    <p:sldId id="318" r:id="rId52"/>
    <p:sldId id="319" r:id="rId53"/>
    <p:sldId id="327" r:id="rId54"/>
    <p:sldId id="328" r:id="rId55"/>
    <p:sldId id="329" r:id="rId56"/>
    <p:sldId id="307" r:id="rId57"/>
    <p:sldId id="308" r:id="rId58"/>
    <p:sldId id="310" r:id="rId59"/>
    <p:sldId id="311" r:id="rId60"/>
    <p:sldId id="312" r:id="rId61"/>
    <p:sldId id="313" r:id="rId62"/>
    <p:sldId id="314" r:id="rId6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02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5028" y="1380235"/>
            <a:ext cx="3800475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3149" y="133553"/>
            <a:ext cx="599770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39" y="1086052"/>
            <a:ext cx="8681720" cy="3040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6464985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768" y="3668014"/>
            <a:ext cx="7599680" cy="673735"/>
          </a:xfrm>
          <a:prstGeom prst="rect">
            <a:avLst/>
          </a:prstGeom>
          <a:solidFill>
            <a:srgbClr val="FFFF00">
              <a:alpha val="75000"/>
            </a:srgbClr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3029585" algn="l"/>
              </a:tabLst>
            </a:pPr>
            <a:r>
              <a:rPr lang="en-US" sz="4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                 </a:t>
            </a:r>
            <a:r>
              <a:rPr sz="4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Inheritance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61182" y="2055063"/>
            <a:ext cx="429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C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01301" y="2067763"/>
            <a:ext cx="2508250" cy="674370"/>
          </a:xfrm>
          <a:prstGeom prst="rect">
            <a:avLst/>
          </a:prstGeom>
          <a:solidFill>
            <a:srgbClr val="FFFF00">
              <a:alpha val="75000"/>
            </a:srgbClr>
          </a:solidFill>
        </p:spPr>
        <p:txBody>
          <a:bodyPr vert="horz" wrap="square" lIns="0" tIns="635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5"/>
              </a:spcBef>
            </a:pPr>
            <a:r>
              <a:rPr lang="en-US" sz="4400" dirty="0">
                <a:solidFill>
                  <a:srgbClr val="001F5F"/>
                </a:solidFill>
              </a:rPr>
              <a:t>hapter</a:t>
            </a:r>
            <a:r>
              <a:rPr sz="4400" spc="-110" dirty="0">
                <a:solidFill>
                  <a:srgbClr val="001F5F"/>
                </a:solidFill>
              </a:rPr>
              <a:t> </a:t>
            </a:r>
            <a:r>
              <a:rPr lang="en-US" sz="4400" spc="-50" dirty="0">
                <a:solidFill>
                  <a:srgbClr val="001F5F"/>
                </a:solidFill>
              </a:rPr>
              <a:t>3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6117" y="307695"/>
            <a:ext cx="2491105" cy="357505"/>
          </a:xfrm>
          <a:custGeom>
            <a:avLst/>
            <a:gdLst/>
            <a:ahLst/>
            <a:cxnLst/>
            <a:rect l="l" t="t" r="r" b="b"/>
            <a:pathLst>
              <a:path w="2491104" h="357505">
                <a:moveTo>
                  <a:pt x="2490774" y="0"/>
                </a:moveTo>
                <a:lnTo>
                  <a:pt x="0" y="0"/>
                </a:lnTo>
                <a:lnTo>
                  <a:pt x="0" y="357263"/>
                </a:lnTo>
                <a:lnTo>
                  <a:pt x="2490774" y="357263"/>
                </a:lnTo>
                <a:lnTo>
                  <a:pt x="249077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243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Inheritance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860805"/>
            <a:ext cx="8531860" cy="4901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635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Object-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oriented</a:t>
            </a:r>
            <a:r>
              <a:rPr sz="2400" i="1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2400" i="1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allows</a:t>
            </a:r>
            <a:r>
              <a:rPr sz="2400" i="1" spc="48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you</a:t>
            </a:r>
            <a:r>
              <a:rPr sz="2400" i="1" spc="4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49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define</a:t>
            </a:r>
            <a:r>
              <a:rPr sz="2400" i="1" spc="49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400" i="1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classes 	</a:t>
            </a:r>
            <a:r>
              <a:rPr sz="2400" i="1" dirty="0">
                <a:latin typeface="Times New Roman"/>
                <a:cs typeface="Times New Roman"/>
              </a:rPr>
              <a:t>from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existing</a:t>
            </a:r>
            <a:r>
              <a:rPr sz="24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sz="2400" i="1" dirty="0">
                <a:latin typeface="Times New Roman"/>
                <a:cs typeface="Times New Roman"/>
              </a:rPr>
              <a:t>.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This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called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Inheritance</a:t>
            </a:r>
            <a:r>
              <a:rPr sz="2400" i="1" spc="200" dirty="0">
                <a:latin typeface="Times New Roman"/>
                <a:cs typeface="Times New Roman"/>
              </a:rPr>
              <a:t>  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204" dirty="0">
                <a:latin typeface="Times New Roman"/>
                <a:cs typeface="Times New Roman"/>
              </a:rPr>
              <a:t>  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200" dirty="0">
                <a:latin typeface="Times New Roman"/>
                <a:cs typeface="Times New Roman"/>
              </a:rPr>
              <a:t>   </a:t>
            </a:r>
            <a:r>
              <a:rPr sz="2400" i="1" dirty="0">
                <a:latin typeface="Times New Roman"/>
                <a:cs typeface="Times New Roman"/>
              </a:rPr>
              <a:t>fundamental</a:t>
            </a:r>
            <a:r>
              <a:rPr sz="2400" i="1" spc="204" dirty="0">
                <a:latin typeface="Times New Roman"/>
                <a:cs typeface="Times New Roman"/>
              </a:rPr>
              <a:t>   </a:t>
            </a:r>
            <a:r>
              <a:rPr sz="2400" i="1" dirty="0">
                <a:latin typeface="Times New Roman"/>
                <a:cs typeface="Times New Roman"/>
              </a:rPr>
              <a:t>concept</a:t>
            </a:r>
            <a:r>
              <a:rPr sz="2400" i="1" spc="200" dirty="0">
                <a:latin typeface="Times New Roman"/>
                <a:cs typeface="Times New Roman"/>
              </a:rPr>
              <a:t>   </a:t>
            </a:r>
            <a:r>
              <a:rPr sz="2400" i="1" dirty="0">
                <a:latin typeface="Times New Roman"/>
                <a:cs typeface="Times New Roman"/>
              </a:rPr>
              <a:t>in</a:t>
            </a:r>
            <a:r>
              <a:rPr sz="2400" i="1" spc="204" dirty="0">
                <a:latin typeface="Times New Roman"/>
                <a:cs typeface="Times New Roman"/>
              </a:rPr>
              <a:t>   </a:t>
            </a:r>
            <a:r>
              <a:rPr sz="2400" i="1" spc="-10" dirty="0">
                <a:latin typeface="Times New Roman"/>
                <a:cs typeface="Times New Roman"/>
              </a:rPr>
              <a:t>object-oriented 	</a:t>
            </a:r>
            <a:r>
              <a:rPr sz="2400" i="1" dirty="0">
                <a:latin typeface="Times New Roman"/>
                <a:cs typeface="Times New Roman"/>
              </a:rPr>
              <a:t>programming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(OOP)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that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allows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class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inherit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properties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and 	</a:t>
            </a:r>
            <a:r>
              <a:rPr sz="2400" i="1" dirty="0">
                <a:latin typeface="Times New Roman"/>
                <a:cs typeface="Times New Roman"/>
              </a:rPr>
              <a:t>methods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from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another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Inheritance</a:t>
            </a:r>
            <a:r>
              <a:rPr sz="2400" i="1" spc="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that</a:t>
            </a:r>
            <a:r>
              <a:rPr sz="2400" i="1" spc="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allows</a:t>
            </a:r>
            <a:r>
              <a:rPr sz="2400" i="1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you</a:t>
            </a:r>
            <a:r>
              <a:rPr sz="2400" i="1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create</a:t>
            </a:r>
            <a:r>
              <a:rPr sz="2400" i="1" spc="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new</a:t>
            </a:r>
            <a:r>
              <a:rPr sz="2400" i="1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class</a:t>
            </a:r>
            <a:r>
              <a:rPr sz="2400" i="1" spc="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by</a:t>
            </a:r>
            <a:r>
              <a:rPr sz="2400" i="1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inheriting</a:t>
            </a:r>
            <a:r>
              <a:rPr sz="2400" i="1" spc="6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the 	</a:t>
            </a:r>
            <a:r>
              <a:rPr sz="2400" i="1" dirty="0">
                <a:latin typeface="Times New Roman"/>
                <a:cs typeface="Times New Roman"/>
              </a:rPr>
              <a:t>properties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behavior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existing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Inheritance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enables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you</a:t>
            </a:r>
            <a:r>
              <a:rPr sz="2400" i="1" spc="19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reuse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existing</a:t>
            </a:r>
            <a:r>
              <a:rPr sz="2400" i="1" spc="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code</a:t>
            </a:r>
            <a:r>
              <a:rPr sz="2400" i="1" spc="2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2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20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define</a:t>
            </a:r>
            <a:r>
              <a:rPr sz="2400" i="1" spc="19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new 	</a:t>
            </a:r>
            <a:r>
              <a:rPr sz="2400" i="1" dirty="0">
                <a:latin typeface="Times New Roman"/>
                <a:cs typeface="Times New Roman"/>
              </a:rPr>
              <a:t>classes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based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on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existing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class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(superclass).</a:t>
            </a:r>
            <a:endParaRPr sz="24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47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new</a:t>
            </a:r>
            <a:r>
              <a:rPr sz="2800" i="1" spc="49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class</a:t>
            </a:r>
            <a:r>
              <a:rPr sz="2800" i="1" spc="50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484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called</a:t>
            </a:r>
            <a:r>
              <a:rPr sz="2800" i="1" spc="495" dirty="0"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i="1" spc="4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subclass</a:t>
            </a:r>
            <a:r>
              <a:rPr sz="2800" i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i="1" spc="4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child</a:t>
            </a:r>
            <a:r>
              <a:rPr sz="2800" i="1" spc="4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800" i="1" spc="-10" dirty="0">
                <a:latin typeface="Times New Roman"/>
                <a:cs typeface="Times New Roman"/>
              </a:rPr>
              <a:t>,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6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it</a:t>
            </a:r>
            <a:r>
              <a:rPr sz="2800" i="1" spc="6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inherits</a:t>
            </a:r>
            <a:r>
              <a:rPr sz="2800" i="1" spc="6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all</a:t>
            </a:r>
            <a:r>
              <a:rPr sz="2800" i="1" spc="6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650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non-</a:t>
            </a:r>
            <a:r>
              <a:rPr sz="2800" i="1" dirty="0">
                <a:latin typeface="Times New Roman"/>
                <a:cs typeface="Times New Roman"/>
              </a:rPr>
              <a:t>private</a:t>
            </a:r>
            <a:r>
              <a:rPr sz="2800" i="1" spc="6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members</a:t>
            </a:r>
            <a:r>
              <a:rPr sz="2800" i="1" spc="67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(fields, </a:t>
            </a:r>
            <a:r>
              <a:rPr sz="2800" i="1" dirty="0">
                <a:latin typeface="Times New Roman"/>
                <a:cs typeface="Times New Roman"/>
              </a:rPr>
              <a:t>methods,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nested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classes)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of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superclass.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172" y="176784"/>
            <a:ext cx="6207760" cy="611505"/>
          </a:xfrm>
          <a:prstGeom prst="rect">
            <a:avLst/>
          </a:prstGeom>
          <a:solidFill>
            <a:srgbClr val="FFFF00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95"/>
              </a:lnSpc>
            </a:pPr>
            <a:r>
              <a:rPr dirty="0"/>
              <a:t>Super</a:t>
            </a:r>
            <a:r>
              <a:rPr spc="-160" dirty="0"/>
              <a:t> </a:t>
            </a:r>
            <a:r>
              <a:rPr dirty="0"/>
              <a:t>classes</a:t>
            </a:r>
            <a:r>
              <a:rPr spc="-8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Subclasses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29385"/>
            <a:ext cx="8683625" cy="52920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715" indent="-342900" algn="just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Java </a:t>
            </a:r>
            <a:r>
              <a:rPr sz="2700" spc="-10" dirty="0">
                <a:latin typeface="Times New Roman"/>
                <a:cs typeface="Times New Roman"/>
              </a:rPr>
              <a:t>terminology,</a:t>
            </a:r>
            <a:r>
              <a:rPr sz="2700" dirty="0">
                <a:latin typeface="Times New Roman"/>
                <a:cs typeface="Times New Roman"/>
              </a:rPr>
              <a:t> a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C1</a:t>
            </a:r>
            <a:r>
              <a:rPr sz="2700" b="1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extended</a:t>
            </a:r>
            <a:r>
              <a:rPr sz="2700" spc="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another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class </a:t>
            </a:r>
            <a:r>
              <a:rPr sz="2700" b="1" dirty="0">
                <a:latin typeface="Times New Roman"/>
                <a:cs typeface="Times New Roman"/>
              </a:rPr>
              <a:t>C2</a:t>
            </a:r>
            <a:r>
              <a:rPr sz="2700" b="1" spc="509" dirty="0">
                <a:latin typeface="Times New Roman"/>
                <a:cs typeface="Times New Roman"/>
              </a:rPr>
              <a:t>    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509" dirty="0">
                <a:latin typeface="Times New Roman"/>
                <a:cs typeface="Times New Roman"/>
              </a:rPr>
              <a:t>     </a:t>
            </a:r>
            <a:r>
              <a:rPr sz="2700" dirty="0">
                <a:latin typeface="Times New Roman"/>
                <a:cs typeface="Times New Roman"/>
              </a:rPr>
              <a:t>called</a:t>
            </a:r>
            <a:r>
              <a:rPr sz="2700" spc="509" dirty="0">
                <a:latin typeface="Times New Roman"/>
                <a:cs typeface="Times New Roman"/>
              </a:rPr>
              <a:t>    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515" dirty="0">
                <a:latin typeface="Times New Roman"/>
                <a:cs typeface="Times New Roman"/>
              </a:rPr>
              <a:t>    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subclass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509" dirty="0">
                <a:latin typeface="Times New Roman"/>
                <a:cs typeface="Times New Roman"/>
              </a:rPr>
              <a:t>    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509" dirty="0">
                <a:latin typeface="Times New Roman"/>
                <a:cs typeface="Times New Roman"/>
              </a:rPr>
              <a:t>     </a:t>
            </a:r>
            <a:r>
              <a:rPr sz="2700" b="1" spc="-25" dirty="0">
                <a:latin typeface="Times New Roman"/>
                <a:cs typeface="Times New Roman"/>
              </a:rPr>
              <a:t>C2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called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superclass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C1 </a:t>
            </a:r>
            <a:r>
              <a:rPr sz="2700" dirty="0">
                <a:latin typeface="Times New Roman"/>
                <a:cs typeface="Times New Roman"/>
              </a:rPr>
              <a:t>extends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b="1" spc="-25" dirty="0">
                <a:latin typeface="Times New Roman"/>
                <a:cs typeface="Times New Roman"/>
              </a:rPr>
              <a:t>C2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00" spc="-50" dirty="0">
                <a:latin typeface="Times New Roman"/>
                <a:cs typeface="Times New Roman"/>
              </a:rPr>
              <a:t>{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spc="-10" dirty="0">
                <a:latin typeface="Times New Roman"/>
                <a:cs typeface="Times New Roman"/>
              </a:rPr>
              <a:t>//body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spc="-5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superclass</a:t>
            </a:r>
            <a:r>
              <a:rPr sz="27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also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referred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parent</a:t>
            </a:r>
            <a:r>
              <a:rPr sz="2700" i="1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i="1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base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subclass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child</a:t>
            </a:r>
            <a:r>
              <a:rPr sz="2700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20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extended</a:t>
            </a:r>
            <a:r>
              <a:rPr sz="2700" i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a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derived</a:t>
            </a:r>
            <a:r>
              <a:rPr sz="27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spc="-1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798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subclass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inherits</a:t>
            </a:r>
            <a:r>
              <a:rPr sz="2700" spc="17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accessible</a:t>
            </a:r>
            <a:r>
              <a:rPr sz="2700" spc="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fields</a:t>
            </a:r>
            <a:r>
              <a:rPr sz="2700" spc="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6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7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from </a:t>
            </a:r>
            <a:r>
              <a:rPr sz="2700" dirty="0">
                <a:latin typeface="Times New Roman"/>
                <a:cs typeface="Times New Roman"/>
              </a:rPr>
              <a:t>its</a:t>
            </a:r>
            <a:r>
              <a:rPr sz="2700" spc="2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superclass</a:t>
            </a:r>
            <a:r>
              <a:rPr sz="2700" spc="204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9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2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also</a:t>
            </a:r>
            <a:r>
              <a:rPr sz="2700" spc="2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add</a:t>
            </a:r>
            <a:r>
              <a:rPr sz="2700" spc="204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700" spc="19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20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fields</a:t>
            </a:r>
            <a:r>
              <a:rPr sz="2700" spc="20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700" spc="-1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7629" y="8636"/>
            <a:ext cx="1348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Calibri"/>
                <a:cs typeface="Calibri"/>
              </a:rPr>
              <a:t>Cont…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00785"/>
            <a:ext cx="8607425" cy="58242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715" indent="-342900" algn="just">
              <a:lnSpc>
                <a:spcPts val="259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Suppose</a:t>
            </a:r>
            <a:r>
              <a:rPr sz="2700" spc="4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you</a:t>
            </a:r>
            <a:r>
              <a:rPr sz="2700" spc="4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need</a:t>
            </a:r>
            <a:r>
              <a:rPr sz="2700" spc="4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4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define</a:t>
            </a:r>
            <a:r>
              <a:rPr sz="2700" spc="4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classes</a:t>
            </a:r>
            <a:r>
              <a:rPr sz="2700" spc="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4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model</a:t>
            </a:r>
            <a:r>
              <a:rPr sz="2700" spc="45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circles</a:t>
            </a:r>
            <a:r>
              <a:rPr sz="2700" spc="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rectangles.</a:t>
            </a:r>
            <a:endParaRPr sz="2700">
              <a:latin typeface="Times New Roman"/>
              <a:cs typeface="Times New Roman"/>
            </a:endParaRPr>
          </a:p>
          <a:p>
            <a:pPr marL="469900" algn="just">
              <a:lnSpc>
                <a:spcPts val="2875"/>
              </a:lnSpc>
              <a:spcBef>
                <a:spcPts val="4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many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common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features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59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What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best</a:t>
            </a:r>
            <a:r>
              <a:rPr sz="2700" spc="1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way</a:t>
            </a:r>
            <a:r>
              <a:rPr sz="2700" spc="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design</a:t>
            </a:r>
            <a:r>
              <a:rPr sz="2700" spc="1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these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classes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so</a:t>
            </a:r>
            <a:r>
              <a:rPr sz="2700" spc="1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1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125" dirty="0"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avoid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redundancy</a:t>
            </a:r>
            <a:r>
              <a:rPr sz="270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4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make</a:t>
            </a:r>
            <a:r>
              <a:rPr sz="2700" spc="4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4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system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easy</a:t>
            </a:r>
            <a:r>
              <a:rPr sz="270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700" spc="4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understand</a:t>
            </a:r>
            <a:r>
              <a:rPr sz="2700" spc="4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easy</a:t>
            </a:r>
            <a:r>
              <a:rPr sz="27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 maintain</a:t>
            </a:r>
            <a:r>
              <a:rPr sz="2700" spc="-10" dirty="0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r>
              <a:rPr sz="2700" i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enables</a:t>
            </a:r>
            <a:r>
              <a:rPr sz="2700" i="1" spc="35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you</a:t>
            </a:r>
            <a:r>
              <a:rPr sz="2700" i="1" spc="36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to</a:t>
            </a:r>
            <a:r>
              <a:rPr sz="2700" i="1" spc="36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define</a:t>
            </a:r>
            <a:r>
              <a:rPr sz="2700" i="1" spc="36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a</a:t>
            </a:r>
            <a:r>
              <a:rPr sz="2700" i="1" spc="360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700" i="1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i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(e.g.,</a:t>
            </a:r>
            <a:r>
              <a:rPr sz="2700" i="1" spc="350" dirty="0">
                <a:latin typeface="Times New Roman"/>
                <a:cs typeface="Times New Roman"/>
              </a:rPr>
              <a:t> </a:t>
            </a:r>
            <a:r>
              <a:rPr sz="2700" i="1" spc="-50" dirty="0">
                <a:latin typeface="Times New Roman"/>
                <a:cs typeface="Times New Roman"/>
              </a:rPr>
              <a:t>a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superclass</a:t>
            </a:r>
            <a:r>
              <a:rPr sz="2700" i="1" dirty="0">
                <a:latin typeface="Times New Roman"/>
                <a:cs typeface="Times New Roman"/>
              </a:rPr>
              <a:t>)</a:t>
            </a:r>
            <a:r>
              <a:rPr sz="2700" i="1" spc="21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and</a:t>
            </a:r>
            <a:r>
              <a:rPr sz="2700" i="1" spc="24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later</a:t>
            </a:r>
            <a:r>
              <a:rPr sz="2700" i="1" spc="24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extend</a:t>
            </a:r>
            <a:r>
              <a:rPr sz="2700" i="1" spc="24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it</a:t>
            </a:r>
            <a:r>
              <a:rPr sz="2700" i="1" spc="23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to</a:t>
            </a:r>
            <a:r>
              <a:rPr sz="2700" i="1" spc="24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more</a:t>
            </a:r>
            <a:r>
              <a:rPr sz="2700" i="1" spc="235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FF0000"/>
                </a:solidFill>
                <a:latin typeface="Times New Roman"/>
                <a:cs typeface="Times New Roman"/>
              </a:rPr>
              <a:t>specialized</a:t>
            </a:r>
            <a:r>
              <a:rPr sz="2700" i="1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classes </a:t>
            </a:r>
            <a:r>
              <a:rPr sz="2700" i="1" dirty="0">
                <a:latin typeface="Times New Roman"/>
                <a:cs typeface="Times New Roman"/>
              </a:rPr>
              <a:t>(e.g.,</a:t>
            </a:r>
            <a:r>
              <a:rPr sz="2700" i="1" spc="-40" dirty="0"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subclasses</a:t>
            </a:r>
            <a:r>
              <a:rPr sz="2700" i="1" spc="-10" dirty="0">
                <a:latin typeface="Times New Roman"/>
                <a:cs typeface="Times New Roman"/>
              </a:rPr>
              <a:t>).</a:t>
            </a:r>
            <a:endParaRPr sz="27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Different</a:t>
            </a:r>
            <a:r>
              <a:rPr sz="2700" spc="434" dirty="0">
                <a:latin typeface="Times New Roman"/>
                <a:cs typeface="Times New Roman"/>
              </a:rPr>
              <a:t>    </a:t>
            </a:r>
            <a:r>
              <a:rPr sz="2700" dirty="0">
                <a:latin typeface="Times New Roman"/>
                <a:cs typeface="Times New Roman"/>
              </a:rPr>
              <a:t>classes</a:t>
            </a:r>
            <a:r>
              <a:rPr sz="2700" spc="430" dirty="0">
                <a:latin typeface="Times New Roman"/>
                <a:cs typeface="Times New Roman"/>
              </a:rPr>
              <a:t>   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440" dirty="0">
                <a:latin typeface="Times New Roman"/>
                <a:cs typeface="Times New Roman"/>
              </a:rPr>
              <a:t>    </a:t>
            </a:r>
            <a:r>
              <a:rPr sz="2700" dirty="0">
                <a:latin typeface="Times New Roman"/>
                <a:cs typeface="Times New Roman"/>
              </a:rPr>
              <a:t>have</a:t>
            </a:r>
            <a:r>
              <a:rPr sz="2700" spc="434" dirty="0">
                <a:latin typeface="Times New Roman"/>
                <a:cs typeface="Times New Roman"/>
              </a:rPr>
              <a:t>  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2700" spc="44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common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properties</a:t>
            </a:r>
            <a:r>
              <a:rPr sz="2700" spc="5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57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behaviors,</a:t>
            </a:r>
            <a:r>
              <a:rPr sz="2700" spc="5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which</a:t>
            </a:r>
            <a:r>
              <a:rPr sz="2700" spc="5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5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5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generalized</a:t>
            </a:r>
            <a:r>
              <a:rPr sz="2700" spc="5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56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a </a:t>
            </a: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shared</a:t>
            </a:r>
            <a:r>
              <a:rPr sz="27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other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classes.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You</a:t>
            </a:r>
            <a:r>
              <a:rPr sz="2700" spc="3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29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define</a:t>
            </a:r>
            <a:r>
              <a:rPr sz="2700" spc="3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95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specialized</a:t>
            </a:r>
            <a:r>
              <a:rPr sz="2700" spc="2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700" spc="3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300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r>
              <a:rPr sz="2700" spc="2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generalized</a:t>
            </a:r>
            <a:r>
              <a:rPr sz="27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class.</a:t>
            </a:r>
            <a:endParaRPr sz="27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59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specialized</a:t>
            </a:r>
            <a:r>
              <a:rPr sz="27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sz="27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inherit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properties</a:t>
            </a:r>
            <a:r>
              <a:rPr sz="27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methods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7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7629" y="49784"/>
            <a:ext cx="1350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01127"/>
            <a:ext cx="8682990" cy="57797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700" b="1" spc="-10" dirty="0">
                <a:latin typeface="Times New Roman"/>
                <a:cs typeface="Times New Roman"/>
              </a:rPr>
              <a:t>Example</a:t>
            </a:r>
            <a:endParaRPr sz="27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92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14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Circle</a:t>
            </a:r>
            <a:r>
              <a:rPr sz="2700" b="1" spc="1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inherits</a:t>
            </a:r>
            <a:r>
              <a:rPr sz="2700" spc="12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120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accessible</a:t>
            </a:r>
            <a:r>
              <a:rPr sz="2700" spc="11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12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fields</a:t>
            </a:r>
            <a:r>
              <a:rPr sz="2700" spc="1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7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GeometricObject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class.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22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addition,</a:t>
            </a:r>
            <a:r>
              <a:rPr sz="2700" spc="2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2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has</a:t>
            </a:r>
            <a:r>
              <a:rPr sz="2700" spc="21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20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700" spc="229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2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215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radius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2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29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its </a:t>
            </a:r>
            <a:r>
              <a:rPr sz="2700" dirty="0">
                <a:latin typeface="Times New Roman"/>
                <a:cs typeface="Times New Roman"/>
              </a:rPr>
              <a:t>associated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get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set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methods.</a:t>
            </a:r>
            <a:endParaRPr sz="27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92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90" dirty="0">
                <a:latin typeface="Times New Roman"/>
                <a:cs typeface="Times New Roman"/>
              </a:rPr>
              <a:t>   </a:t>
            </a:r>
            <a:r>
              <a:rPr sz="2700" b="1" dirty="0">
                <a:latin typeface="Times New Roman"/>
                <a:cs typeface="Times New Roman"/>
              </a:rPr>
              <a:t>Circle</a:t>
            </a:r>
            <a:r>
              <a:rPr sz="2700" b="1" spc="290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275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also</a:t>
            </a:r>
            <a:r>
              <a:rPr sz="2700" spc="290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contains</a:t>
            </a:r>
            <a:r>
              <a:rPr sz="2700" spc="290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90" dirty="0">
                <a:latin typeface="Times New Roman"/>
                <a:cs typeface="Times New Roman"/>
              </a:rPr>
              <a:t>   </a:t>
            </a:r>
            <a:r>
              <a:rPr sz="2700" b="1" dirty="0">
                <a:latin typeface="Times New Roman"/>
                <a:cs typeface="Times New Roman"/>
              </a:rPr>
              <a:t>getArea()</a:t>
            </a:r>
            <a:r>
              <a:rPr sz="2700" b="1" spc="290" dirty="0">
                <a:latin typeface="Times New Roman"/>
                <a:cs typeface="Times New Roman"/>
              </a:rPr>
              <a:t>   </a:t>
            </a:r>
            <a:r>
              <a:rPr sz="2700" spc="-50" dirty="0">
                <a:latin typeface="Times New Roman"/>
                <a:cs typeface="Times New Roman"/>
              </a:rPr>
              <a:t>, </a:t>
            </a:r>
            <a:r>
              <a:rPr sz="2700" b="1" dirty="0">
                <a:latin typeface="Times New Roman"/>
                <a:cs typeface="Times New Roman"/>
              </a:rPr>
              <a:t>getPerimeter()</a:t>
            </a:r>
            <a:r>
              <a:rPr sz="2700" b="1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getDiameter()</a:t>
            </a:r>
            <a:r>
              <a:rPr sz="2700" b="1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methods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returning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area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perimeter</a:t>
            </a:r>
            <a:r>
              <a:rPr sz="2700" spc="-10" dirty="0">
                <a:latin typeface="Times New Roman"/>
                <a:cs typeface="Times New Roman"/>
              </a:rPr>
              <a:t>,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diameter</a:t>
            </a:r>
            <a:r>
              <a:rPr sz="27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circle.</a:t>
            </a:r>
            <a:endParaRPr sz="27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33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Rectangle</a:t>
            </a:r>
            <a:r>
              <a:rPr sz="2700" b="1" spc="3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3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inherits</a:t>
            </a:r>
            <a:r>
              <a:rPr sz="2700" spc="3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33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accessible</a:t>
            </a:r>
            <a:r>
              <a:rPr sz="2700" spc="3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3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fields</a:t>
            </a:r>
            <a:r>
              <a:rPr sz="2700" spc="3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7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GeometricObject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class.</a:t>
            </a:r>
            <a:endParaRPr sz="27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addition,</a:t>
            </a:r>
            <a:r>
              <a:rPr sz="2700" spc="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has</a:t>
            </a:r>
            <a:r>
              <a:rPr sz="2700" spc="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7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fields</a:t>
            </a:r>
            <a:r>
              <a:rPr sz="27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width</a:t>
            </a:r>
            <a:r>
              <a:rPr sz="2700" b="1" spc="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height</a:t>
            </a:r>
            <a:r>
              <a:rPr sz="2700" b="1" spc="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their </a:t>
            </a:r>
            <a:r>
              <a:rPr sz="2700" dirty="0">
                <a:latin typeface="Times New Roman"/>
                <a:cs typeface="Times New Roman"/>
              </a:rPr>
              <a:t>associated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get</a:t>
            </a:r>
            <a:r>
              <a:rPr sz="2700" b="1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set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methods.</a:t>
            </a:r>
            <a:endParaRPr sz="27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86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also</a:t>
            </a:r>
            <a:r>
              <a:rPr sz="2700" spc="1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contains</a:t>
            </a:r>
            <a:r>
              <a:rPr sz="2700" spc="1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getArea()</a:t>
            </a:r>
            <a:r>
              <a:rPr sz="2700" b="1" spc="1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getPerimeter()</a:t>
            </a:r>
            <a:r>
              <a:rPr sz="2700" b="1" spc="1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methods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returning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area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perimeter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rectangle.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9705" y="11684"/>
            <a:ext cx="6240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Super</a:t>
            </a:r>
            <a:r>
              <a:rPr spc="-160" dirty="0"/>
              <a:t> </a:t>
            </a:r>
            <a:r>
              <a:rPr dirty="0"/>
              <a:t>classes</a:t>
            </a:r>
            <a:r>
              <a:rPr spc="-8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Subclasses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295" y="759727"/>
            <a:ext cx="8206364" cy="58613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7092" y="34239"/>
            <a:ext cx="5824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Times New Roman"/>
                <a:cs typeface="Times New Roman"/>
              </a:rPr>
              <a:t>GeometricObject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Superclass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26694"/>
            <a:ext cx="8287384" cy="573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Import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java.util.Date;</a:t>
            </a:r>
            <a:endParaRPr sz="1800" dirty="0">
              <a:latin typeface="Courier New"/>
              <a:cs typeface="Courier New"/>
            </a:endParaRPr>
          </a:p>
          <a:p>
            <a:pPr marL="492759" marR="3554095" indent="-480059">
              <a:lnSpc>
                <a:spcPct val="80000"/>
              </a:lnSpc>
              <a:spcBef>
                <a:spcPts val="430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class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GeometricObject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color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"white"</a:t>
            </a:r>
            <a:r>
              <a:rPr sz="1800" spc="-10" dirty="0">
                <a:latin typeface="Courier New"/>
                <a:cs typeface="Courier New"/>
              </a:rPr>
              <a:t>; </a:t>
            </a: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boolean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filled;</a:t>
            </a:r>
            <a:r>
              <a:rPr sz="1800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Date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dateCreated;</a:t>
            </a:r>
            <a:endParaRPr sz="1800" dirty="0">
              <a:latin typeface="Courier New"/>
              <a:cs typeface="Courier New"/>
            </a:endParaRPr>
          </a:p>
          <a:p>
            <a:pPr marL="355600">
              <a:lnSpc>
                <a:spcPts val="151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Construct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default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geometric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object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800" dirty="0">
              <a:latin typeface="Courier New"/>
              <a:cs typeface="Courier New"/>
            </a:endParaRPr>
          </a:p>
          <a:p>
            <a:pPr marL="492759" marR="4237355">
              <a:lnSpc>
                <a:spcPct val="80000"/>
              </a:lnSpc>
              <a:spcBef>
                <a:spcPts val="21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GeometricObject()</a:t>
            </a:r>
            <a:r>
              <a:rPr sz="1800" spc="-11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dirty="0">
                <a:latin typeface="Courier New"/>
                <a:cs typeface="Courier New"/>
              </a:rPr>
              <a:t>dateCreated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new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Date();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51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Construct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geometric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object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with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specified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color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*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filled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value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800" dirty="0">
              <a:latin typeface="Courier New"/>
              <a:cs typeface="Courier New"/>
            </a:endParaRPr>
          </a:p>
          <a:p>
            <a:pPr marL="492759" marR="415290">
              <a:lnSpc>
                <a:spcPts val="1750"/>
              </a:lnSpc>
              <a:spcBef>
                <a:spcPts val="18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GeometricObject(String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color,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boolean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filled)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dirty="0">
                <a:latin typeface="Courier New"/>
                <a:cs typeface="Courier New"/>
              </a:rPr>
              <a:t>dateCreated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new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Date();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500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.color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color;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.filled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filled;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49860">
              <a:lnSpc>
                <a:spcPts val="1945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color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getColor()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return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color;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  <a:spcBef>
                <a:spcPts val="17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color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void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setColor(String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color)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9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.color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color;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5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74447"/>
            <a:ext cx="1506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1: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92" y="11684"/>
            <a:ext cx="5822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Times New Roman"/>
                <a:cs typeface="Times New Roman"/>
              </a:rPr>
              <a:t>GeometricObject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Superclass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36778"/>
            <a:ext cx="8615680" cy="5327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2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2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filled.</a:t>
            </a:r>
            <a:r>
              <a:rPr sz="22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public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boolean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isFilled()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{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return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filled;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375"/>
              </a:lnSpc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375"/>
              </a:lnSpc>
              <a:spcBef>
                <a:spcPts val="1585"/>
              </a:spcBef>
            </a:pP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2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22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2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22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filled</a:t>
            </a:r>
            <a:r>
              <a:rPr sz="2200" spc="-25" dirty="0">
                <a:solidFill>
                  <a:srgbClr val="FF0000"/>
                </a:solidFill>
                <a:latin typeface="Courier New"/>
                <a:cs typeface="Courier New"/>
              </a:rPr>
              <a:t> */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public</a:t>
            </a:r>
            <a:r>
              <a:rPr sz="2200" b="1" spc="-8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void</a:t>
            </a:r>
            <a:r>
              <a:rPr sz="2200" b="1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setFilled(</a:t>
            </a:r>
            <a:r>
              <a:rPr sz="2200" b="1" dirty="0">
                <a:latin typeface="Courier New"/>
                <a:cs typeface="Courier New"/>
              </a:rPr>
              <a:t>boolean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filled)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{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5"/>
              </a:lnSpc>
            </a:pPr>
            <a:r>
              <a:rPr sz="2200" b="1" dirty="0">
                <a:latin typeface="Courier New"/>
                <a:cs typeface="Courier New"/>
              </a:rPr>
              <a:t>this</a:t>
            </a:r>
            <a:r>
              <a:rPr sz="2200" dirty="0">
                <a:latin typeface="Courier New"/>
                <a:cs typeface="Courier New"/>
              </a:rPr>
              <a:t>.filled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filled;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5"/>
              </a:lnSpc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2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Get</a:t>
            </a:r>
            <a:r>
              <a:rPr sz="22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dateCreated</a:t>
            </a:r>
            <a:r>
              <a:rPr sz="22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public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Date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getDateCreated()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{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return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dateCreated;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375"/>
              </a:lnSpc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ts val="2375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2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2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2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22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representation</a:t>
            </a:r>
            <a:r>
              <a:rPr sz="22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22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FF0000"/>
                </a:solidFill>
                <a:latin typeface="Courier New"/>
                <a:cs typeface="Courier New"/>
              </a:rPr>
              <a:t>this</a:t>
            </a:r>
            <a:r>
              <a:rPr sz="22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ourier New"/>
                <a:cs typeface="Courier New"/>
              </a:rPr>
              <a:t>object*/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public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String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toString()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{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110"/>
              </a:lnSpc>
            </a:pPr>
            <a:r>
              <a:rPr sz="2200" b="1" dirty="0">
                <a:latin typeface="Courier New"/>
                <a:cs typeface="Courier New"/>
              </a:rPr>
              <a:t>return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"created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on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dateCreated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"\ncolor: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50" dirty="0">
                <a:latin typeface="Courier New"/>
                <a:cs typeface="Courier New"/>
              </a:rPr>
              <a:t>"</a:t>
            </a:r>
            <a:endParaRPr sz="2200" dirty="0">
              <a:latin typeface="Courier New"/>
              <a:cs typeface="Courier New"/>
            </a:endParaRPr>
          </a:p>
          <a:p>
            <a:pPr marL="355600">
              <a:lnSpc>
                <a:spcPts val="2115"/>
              </a:lnSpc>
            </a:pP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color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and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filled: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filled;</a:t>
            </a:r>
            <a:endParaRPr sz="2200" dirty="0">
              <a:latin typeface="Courier New"/>
              <a:cs typeface="Courier New"/>
            </a:endParaRPr>
          </a:p>
          <a:p>
            <a:pPr marL="523240">
              <a:lnSpc>
                <a:spcPts val="2375"/>
              </a:lnSpc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754" y="34239"/>
            <a:ext cx="3172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Circle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50494"/>
            <a:ext cx="8559800" cy="557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class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Circle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extends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GeometricObject{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radius;</a:t>
            </a:r>
            <a:endParaRPr sz="1800" dirty="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29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Circle()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300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Circle(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radius)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.radius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radius;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29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Circle(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radius,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color,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boolean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filled)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 marR="5191760">
              <a:lnSpc>
                <a:spcPct val="80000"/>
              </a:lnSpc>
              <a:spcBef>
                <a:spcPts val="219"/>
              </a:spcBef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.radius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radius; setColor(color); setFilled(filled);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492759" marR="4373245">
              <a:lnSpc>
                <a:spcPct val="80000"/>
              </a:lnSpc>
              <a:spcBef>
                <a:spcPts val="17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radius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r>
              <a:rPr sz="18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getRadius()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return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radius;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  <a:spcBef>
                <a:spcPts val="129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radius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void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setRadius(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radius)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739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.radius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radius;</a:t>
            </a:r>
            <a:endParaRPr sz="1800" dirty="0">
              <a:latin typeface="Courier New"/>
              <a:cs typeface="Courier New"/>
            </a:endParaRPr>
          </a:p>
          <a:p>
            <a:pPr marL="492759">
              <a:lnSpc>
                <a:spcPts val="195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24305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Circle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39113"/>
            <a:ext cx="8103870" cy="5330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0">
              <a:lnSpc>
                <a:spcPts val="216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area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getArea()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radius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radius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Math.PI;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216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508000" marR="3167380">
              <a:lnSpc>
                <a:spcPct val="80000"/>
              </a:lnSpc>
              <a:spcBef>
                <a:spcPts val="192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diameter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r>
              <a:rPr sz="20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getDiameter()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10" dirty="0">
                <a:latin typeface="Courier New"/>
                <a:cs typeface="Courier New"/>
              </a:rPr>
              <a:t> radius;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508000" marR="3014980">
              <a:lnSpc>
                <a:spcPct val="80000"/>
              </a:lnSpc>
              <a:spcBef>
                <a:spcPts val="192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perimeter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*/</a:t>
            </a:r>
            <a:r>
              <a:rPr sz="20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getPerimeter()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radius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Math.PI;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5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2160"/>
              </a:lnSpc>
              <a:spcBef>
                <a:spcPts val="144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Print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circle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info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printCircle()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circle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created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+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getDateCreated()+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and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the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radius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radius);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216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754" y="34239"/>
            <a:ext cx="3172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Circle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59638"/>
            <a:ext cx="8683625" cy="568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42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1186180" algn="l"/>
                <a:tab pos="2757805" algn="l"/>
                <a:tab pos="4222115" algn="l"/>
                <a:tab pos="5095875" algn="l"/>
                <a:tab pos="5798185" algn="l"/>
                <a:tab pos="7391400" algn="l"/>
                <a:tab pos="8200390" algn="l"/>
              </a:tabLst>
            </a:pP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keyword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extends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tells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compiler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endParaRPr sz="3000">
              <a:latin typeface="Times New Roman"/>
              <a:cs typeface="Times New Roman"/>
            </a:endParaRPr>
          </a:p>
          <a:p>
            <a:pPr marL="355600">
              <a:lnSpc>
                <a:spcPts val="3420"/>
              </a:lnSpc>
            </a:pPr>
            <a:r>
              <a:rPr sz="3000" b="1" dirty="0">
                <a:latin typeface="Times New Roman"/>
                <a:cs typeface="Times New Roman"/>
              </a:rPr>
              <a:t>Circle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class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extends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GeometricObject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class.</a:t>
            </a:r>
            <a:endParaRPr sz="3000">
              <a:latin typeface="Times New Roman"/>
              <a:cs typeface="Times New Roman"/>
            </a:endParaRPr>
          </a:p>
          <a:p>
            <a:pPr marL="756285" marR="5080" indent="-287020">
              <a:lnSpc>
                <a:spcPts val="2810"/>
              </a:lnSpc>
              <a:spcBef>
                <a:spcPts val="680"/>
              </a:spcBef>
            </a:pPr>
            <a:r>
              <a:rPr sz="2600" dirty="0">
                <a:latin typeface="Arial MT"/>
                <a:cs typeface="Arial MT"/>
              </a:rPr>
              <a:t>–</a:t>
            </a:r>
            <a:r>
              <a:rPr sz="2600" spc="65" dirty="0">
                <a:latin typeface="Arial MT"/>
                <a:cs typeface="Arial MT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Thus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inheriting</a:t>
            </a:r>
            <a:r>
              <a:rPr sz="2600" spc="3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methods</a:t>
            </a:r>
            <a:r>
              <a:rPr sz="2600" spc="3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getColor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setColor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31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isFilled</a:t>
            </a:r>
            <a:r>
              <a:rPr sz="2600" spc="-10" dirty="0">
                <a:latin typeface="Times New Roman"/>
                <a:cs typeface="Times New Roman"/>
              </a:rPr>
              <a:t>, </a:t>
            </a:r>
            <a:r>
              <a:rPr sz="2600" b="1" dirty="0">
                <a:latin typeface="Times New Roman"/>
                <a:cs typeface="Times New Roman"/>
              </a:rPr>
              <a:t>setFilled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toString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26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4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overloaded</a:t>
            </a:r>
            <a:r>
              <a:rPr sz="3000" spc="14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constructor</a:t>
            </a:r>
            <a:r>
              <a:rPr sz="3000" spc="14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Circle(double</a:t>
            </a:r>
            <a:r>
              <a:rPr sz="3000" b="1" spc="145" dirty="0">
                <a:latin typeface="Times New Roman"/>
                <a:cs typeface="Times New Roman"/>
              </a:rPr>
              <a:t>  </a:t>
            </a:r>
            <a:r>
              <a:rPr sz="3000" b="1" spc="-10" dirty="0">
                <a:latin typeface="Times New Roman"/>
                <a:cs typeface="Times New Roman"/>
              </a:rPr>
              <a:t>radius, </a:t>
            </a:r>
            <a:r>
              <a:rPr sz="3000" b="1" dirty="0">
                <a:latin typeface="Times New Roman"/>
                <a:cs typeface="Times New Roman"/>
              </a:rPr>
              <a:t>String</a:t>
            </a:r>
            <a:r>
              <a:rPr sz="3000" b="1" spc="21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color,</a:t>
            </a:r>
            <a:r>
              <a:rPr sz="3000" b="1" spc="22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boolean</a:t>
            </a:r>
            <a:r>
              <a:rPr sz="3000" b="1" spc="21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filled)</a:t>
            </a:r>
            <a:r>
              <a:rPr sz="3000" b="1" spc="2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1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implemented</a:t>
            </a:r>
            <a:r>
              <a:rPr sz="3000" spc="229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by </a:t>
            </a:r>
            <a:r>
              <a:rPr sz="3000" dirty="0">
                <a:latin typeface="Times New Roman"/>
                <a:cs typeface="Times New Roman"/>
              </a:rPr>
              <a:t>invoking</a:t>
            </a:r>
            <a:r>
              <a:rPr sz="3000" spc="5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setColor</a:t>
            </a:r>
            <a:r>
              <a:rPr sz="3000" b="1" spc="4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5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setFilled</a:t>
            </a:r>
            <a:r>
              <a:rPr sz="3000" b="1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5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set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color</a:t>
            </a:r>
            <a:r>
              <a:rPr sz="3000" b="1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filled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properties</a:t>
            </a:r>
            <a:r>
              <a:rPr sz="3000" spc="-50" dirty="0">
                <a:latin typeface="Times New Roman"/>
                <a:cs typeface="Times New Roman"/>
              </a:rPr>
              <a:t> 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8920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These</a:t>
            </a:r>
            <a:r>
              <a:rPr sz="3000" spc="7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two</a:t>
            </a:r>
            <a:r>
              <a:rPr sz="3000" spc="7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public</a:t>
            </a:r>
            <a:r>
              <a:rPr sz="3000" spc="7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7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7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defined</a:t>
            </a:r>
            <a:r>
              <a:rPr sz="3000" spc="7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7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725" dirty="0"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base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3000" spc="4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GeometricObject</a:t>
            </a:r>
            <a:r>
              <a:rPr sz="3000" b="1" spc="4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4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inherited</a:t>
            </a:r>
            <a:r>
              <a:rPr sz="3000" spc="4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49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Circle</a:t>
            </a:r>
            <a:r>
              <a:rPr sz="3000" spc="-10" dirty="0">
                <a:latin typeface="Times New Roman"/>
                <a:cs typeface="Times New Roman"/>
              </a:rPr>
              <a:t>, </a:t>
            </a:r>
            <a:r>
              <a:rPr sz="3000" dirty="0">
                <a:latin typeface="Times New Roman"/>
                <a:cs typeface="Times New Roman"/>
              </a:rPr>
              <a:t>so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derived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754" y="285953"/>
            <a:ext cx="3172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Circle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485" y="2437097"/>
            <a:ext cx="7861837" cy="23524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9657" y="49784"/>
            <a:ext cx="3964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Rectangle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26694"/>
            <a:ext cx="8558530" cy="557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class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Rectangle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extends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GeometricObject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295"/>
              </a:spcBef>
            </a:pP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width;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private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height;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300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Rectangle()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29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Rectangle(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width,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height)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.width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width;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.height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height;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945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ts val="1945"/>
              </a:lnSpc>
              <a:spcBef>
                <a:spcPts val="1295"/>
              </a:spcBef>
            </a:pP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Rectangle(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width,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height,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color,</a:t>
            </a:r>
            <a:endParaRPr sz="1800">
              <a:latin typeface="Courier New"/>
              <a:cs typeface="Courier New"/>
            </a:endParaRPr>
          </a:p>
          <a:p>
            <a:pPr marL="492759" marR="5191125" indent="-137160">
              <a:lnSpc>
                <a:spcPct val="80000"/>
              </a:lnSpc>
              <a:spcBef>
                <a:spcPts val="215"/>
              </a:spcBef>
            </a:pPr>
            <a:r>
              <a:rPr sz="1800" b="1" dirty="0">
                <a:latin typeface="Courier New"/>
                <a:cs typeface="Courier New"/>
              </a:rPr>
              <a:t>boolean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filled)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.width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width; </a:t>
            </a:r>
            <a:r>
              <a:rPr sz="1800" b="1" dirty="0">
                <a:latin typeface="Courier New"/>
                <a:cs typeface="Courier New"/>
              </a:rPr>
              <a:t>this</a:t>
            </a:r>
            <a:r>
              <a:rPr sz="1800" dirty="0">
                <a:latin typeface="Courier New"/>
                <a:cs typeface="Courier New"/>
              </a:rPr>
              <a:t>.height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height; setColor(color); setFilled(filled);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73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92759" marR="4507865">
              <a:lnSpc>
                <a:spcPts val="1730"/>
              </a:lnSpc>
              <a:spcBef>
                <a:spcPts val="1714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width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r>
              <a:rPr sz="18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public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double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getWidth()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return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width;</a:t>
            </a:r>
            <a:endParaRPr sz="1800">
              <a:latin typeface="Courier New"/>
              <a:cs typeface="Courier New"/>
            </a:endParaRPr>
          </a:p>
          <a:p>
            <a:pPr marL="492759">
              <a:lnSpc>
                <a:spcPts val="176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9657" y="-3860"/>
            <a:ext cx="3964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Rectangle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566674"/>
            <a:ext cx="5970270" cy="5757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width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setWidth(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width)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this</a:t>
            </a:r>
            <a:r>
              <a:rPr sz="2000" dirty="0">
                <a:latin typeface="Courier New"/>
                <a:cs typeface="Courier New"/>
              </a:rPr>
              <a:t>.width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width;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216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height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*/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getHeight()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height;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216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2160"/>
              </a:lnSpc>
              <a:spcBef>
                <a:spcPts val="144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height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setHeight(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height)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20"/>
              </a:lnSpc>
            </a:pPr>
            <a:r>
              <a:rPr sz="2000" b="1" dirty="0">
                <a:latin typeface="Courier New"/>
                <a:cs typeface="Courier New"/>
              </a:rPr>
              <a:t>this</a:t>
            </a:r>
            <a:r>
              <a:rPr sz="2000" dirty="0">
                <a:latin typeface="Courier New"/>
                <a:cs typeface="Courier New"/>
              </a:rPr>
              <a:t>.height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height;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216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65100" marR="1986280">
              <a:lnSpc>
                <a:spcPts val="1920"/>
              </a:lnSpc>
              <a:spcBef>
                <a:spcPts val="191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area</a:t>
            </a:r>
            <a:r>
              <a:rPr sz="20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r>
              <a:rPr sz="20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getArea()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width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height;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35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65100" marR="1223010">
              <a:lnSpc>
                <a:spcPts val="1920"/>
              </a:lnSpc>
              <a:spcBef>
                <a:spcPts val="190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Return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perimeter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*/</a:t>
            </a:r>
            <a:r>
              <a:rPr sz="2000" spc="5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double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getPerimeter()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*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(width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height);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ts val="1939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6300927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6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Rectangle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57757"/>
            <a:ext cx="853059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keyword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extends</a:t>
            </a:r>
            <a:r>
              <a:rPr sz="3200" b="1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tells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compiler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b="1" dirty="0">
                <a:latin typeface="Times New Roman"/>
                <a:cs typeface="Times New Roman"/>
              </a:rPr>
              <a:t>Rectangle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extends</a:t>
            </a:r>
            <a:r>
              <a:rPr sz="3200" spc="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 </a:t>
            </a:r>
            <a:r>
              <a:rPr sz="3200" b="1" spc="-10" dirty="0">
                <a:latin typeface="Times New Roman"/>
                <a:cs typeface="Times New Roman"/>
              </a:rPr>
              <a:t>GeometricObject </a:t>
            </a:r>
            <a:r>
              <a:rPr sz="3200" dirty="0">
                <a:latin typeface="Times New Roman"/>
                <a:cs typeface="Times New Roman"/>
              </a:rPr>
              <a:t>class,</a:t>
            </a:r>
            <a:r>
              <a:rPr sz="3200" spc="3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thus</a:t>
            </a:r>
            <a:r>
              <a:rPr sz="3200" spc="3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inheriting</a:t>
            </a:r>
            <a:r>
              <a:rPr sz="3200" spc="3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methods</a:t>
            </a:r>
            <a:r>
              <a:rPr sz="3200" spc="385" dirty="0">
                <a:latin typeface="Times New Roman"/>
                <a:cs typeface="Times New Roman"/>
              </a:rPr>
              <a:t>  </a:t>
            </a:r>
            <a:r>
              <a:rPr sz="3200" b="1" spc="-10" dirty="0">
                <a:latin typeface="Times New Roman"/>
                <a:cs typeface="Times New Roman"/>
              </a:rPr>
              <a:t>getColor</a:t>
            </a:r>
            <a:r>
              <a:rPr sz="3200" spc="-10" dirty="0">
                <a:latin typeface="Times New Roman"/>
                <a:cs typeface="Times New Roman"/>
              </a:rPr>
              <a:t>, </a:t>
            </a:r>
            <a:r>
              <a:rPr sz="3200" b="1" dirty="0">
                <a:latin typeface="Times New Roman"/>
                <a:cs typeface="Times New Roman"/>
              </a:rPr>
              <a:t>setColor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isFilled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setFilled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toString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73" y="3570409"/>
            <a:ext cx="7128841" cy="16419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Rectangle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355" dirty="0"/>
              <a:t> </a:t>
            </a:r>
            <a:r>
              <a:rPr dirty="0"/>
              <a:t>following</a:t>
            </a:r>
            <a:r>
              <a:rPr spc="370" dirty="0"/>
              <a:t> </a:t>
            </a:r>
            <a:r>
              <a:rPr dirty="0"/>
              <a:t>code</a:t>
            </a:r>
            <a:r>
              <a:rPr spc="375" dirty="0"/>
              <a:t> </a:t>
            </a:r>
            <a:r>
              <a:rPr dirty="0"/>
              <a:t>creates</a:t>
            </a:r>
            <a:r>
              <a:rPr spc="380" dirty="0"/>
              <a:t> </a:t>
            </a:r>
            <a:r>
              <a:rPr dirty="0"/>
              <a:t>objects</a:t>
            </a:r>
            <a:r>
              <a:rPr spc="365" dirty="0"/>
              <a:t> </a:t>
            </a:r>
            <a:r>
              <a:rPr dirty="0"/>
              <a:t>of</a:t>
            </a:r>
            <a:r>
              <a:rPr spc="360" dirty="0"/>
              <a:t> </a:t>
            </a:r>
            <a:r>
              <a:rPr b="1" dirty="0">
                <a:latin typeface="Times New Roman"/>
                <a:cs typeface="Times New Roman"/>
              </a:rPr>
              <a:t>Circle</a:t>
            </a:r>
            <a:r>
              <a:rPr b="1" spc="350" dirty="0">
                <a:latin typeface="Times New Roman"/>
                <a:cs typeface="Times New Roman"/>
              </a:rPr>
              <a:t> </a:t>
            </a:r>
            <a:r>
              <a:rPr spc="-25" dirty="0"/>
              <a:t>and 	</a:t>
            </a:r>
            <a:r>
              <a:rPr b="1" dirty="0">
                <a:latin typeface="Times New Roman"/>
                <a:cs typeface="Times New Roman"/>
              </a:rPr>
              <a:t>Rectangle</a:t>
            </a:r>
            <a:r>
              <a:rPr b="1" spc="250" dirty="0">
                <a:latin typeface="Times New Roman"/>
                <a:cs typeface="Times New Roman"/>
              </a:rPr>
              <a:t>  </a:t>
            </a:r>
            <a:r>
              <a:rPr dirty="0"/>
              <a:t>and</a:t>
            </a:r>
            <a:r>
              <a:rPr spc="254" dirty="0"/>
              <a:t>  </a:t>
            </a:r>
            <a:r>
              <a:rPr dirty="0"/>
              <a:t>invokes</a:t>
            </a:r>
            <a:r>
              <a:rPr spc="260" dirty="0"/>
              <a:t>  </a:t>
            </a:r>
            <a:r>
              <a:rPr dirty="0"/>
              <a:t>the</a:t>
            </a:r>
            <a:r>
              <a:rPr spc="250" dirty="0"/>
              <a:t>  </a:t>
            </a:r>
            <a:r>
              <a:rPr dirty="0"/>
              <a:t>methods</a:t>
            </a:r>
            <a:r>
              <a:rPr spc="250" dirty="0"/>
              <a:t>  </a:t>
            </a:r>
            <a:r>
              <a:rPr dirty="0"/>
              <a:t>on</a:t>
            </a:r>
            <a:r>
              <a:rPr spc="254" dirty="0"/>
              <a:t>  </a:t>
            </a:r>
            <a:r>
              <a:rPr spc="-10" dirty="0"/>
              <a:t>these 	objects.</a:t>
            </a:r>
          </a:p>
          <a:p>
            <a:pPr marL="355600" marR="5080" indent="-342900" algn="just">
              <a:lnSpc>
                <a:spcPct val="98900"/>
              </a:lnSpc>
              <a:spcBef>
                <a:spcPts val="8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350" dirty="0"/>
              <a:t>  </a:t>
            </a:r>
            <a:r>
              <a:rPr b="1" dirty="0">
                <a:latin typeface="Times New Roman"/>
                <a:cs typeface="Times New Roman"/>
              </a:rPr>
              <a:t>toString()</a:t>
            </a:r>
            <a:r>
              <a:rPr b="1" spc="345" dirty="0">
                <a:latin typeface="Times New Roman"/>
                <a:cs typeface="Times New Roman"/>
              </a:rPr>
              <a:t>  </a:t>
            </a:r>
            <a:r>
              <a:rPr dirty="0"/>
              <a:t>method</a:t>
            </a:r>
            <a:r>
              <a:rPr spc="345" dirty="0"/>
              <a:t>  </a:t>
            </a:r>
            <a:r>
              <a:rPr dirty="0"/>
              <a:t>is</a:t>
            </a:r>
            <a:r>
              <a:rPr spc="355" dirty="0"/>
              <a:t>  </a:t>
            </a:r>
            <a:r>
              <a:rPr dirty="0"/>
              <a:t>inherited</a:t>
            </a:r>
            <a:r>
              <a:rPr spc="355" dirty="0"/>
              <a:t>  </a:t>
            </a:r>
            <a:r>
              <a:rPr dirty="0"/>
              <a:t>from</a:t>
            </a:r>
            <a:r>
              <a:rPr spc="355" dirty="0"/>
              <a:t>  </a:t>
            </a:r>
            <a:r>
              <a:rPr spc="-25" dirty="0"/>
              <a:t>the </a:t>
            </a:r>
            <a:r>
              <a:rPr b="1" dirty="0">
                <a:latin typeface="Times New Roman"/>
                <a:cs typeface="Times New Roman"/>
              </a:rPr>
              <a:t>GeometricObject</a:t>
            </a:r>
            <a:r>
              <a:rPr b="1" spc="90" dirty="0">
                <a:latin typeface="Times New Roman"/>
                <a:cs typeface="Times New Roman"/>
              </a:rPr>
              <a:t>  </a:t>
            </a:r>
            <a:r>
              <a:rPr dirty="0"/>
              <a:t>class</a:t>
            </a:r>
            <a:r>
              <a:rPr spc="95" dirty="0"/>
              <a:t>  </a:t>
            </a:r>
            <a:r>
              <a:rPr dirty="0"/>
              <a:t>and</a:t>
            </a:r>
            <a:r>
              <a:rPr spc="95" dirty="0"/>
              <a:t>  </a:t>
            </a:r>
            <a:r>
              <a:rPr dirty="0"/>
              <a:t>is</a:t>
            </a:r>
            <a:r>
              <a:rPr spc="95" dirty="0"/>
              <a:t>  </a:t>
            </a:r>
            <a:r>
              <a:rPr dirty="0"/>
              <a:t>invoked</a:t>
            </a:r>
            <a:r>
              <a:rPr spc="90" dirty="0"/>
              <a:t>  </a:t>
            </a:r>
            <a:r>
              <a:rPr dirty="0"/>
              <a:t>from</a:t>
            </a:r>
            <a:r>
              <a:rPr spc="90" dirty="0"/>
              <a:t>  </a:t>
            </a:r>
            <a:r>
              <a:rPr spc="-50" dirty="0"/>
              <a:t>a </a:t>
            </a:r>
            <a:r>
              <a:rPr b="1" dirty="0">
                <a:latin typeface="Times New Roman"/>
                <a:cs typeface="Times New Roman"/>
              </a:rPr>
              <a:t>Circle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/>
              <a:t>object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b="1" dirty="0">
                <a:latin typeface="Times New Roman"/>
                <a:cs typeface="Times New Roman"/>
              </a:rPr>
              <a:t>Rectangle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spc="-10" dirty="0"/>
              <a:t>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8617" y="49784"/>
            <a:ext cx="5360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25" dirty="0">
                <a:latin typeface="Times New Roman"/>
                <a:cs typeface="Times New Roman"/>
              </a:rPr>
              <a:t>TestCircleRectangle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42874"/>
            <a:ext cx="8751570" cy="5699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class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TestCircleRectangle</a:t>
            </a:r>
            <a:r>
              <a:rPr sz="2000" spc="-50" dirty="0">
                <a:latin typeface="Courier New"/>
                <a:cs typeface="Courier New"/>
              </a:rPr>
              <a:t> {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216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static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main(String[]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args)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ts val="2160"/>
              </a:lnSpc>
              <a:spcBef>
                <a:spcPts val="1920"/>
              </a:spcBef>
            </a:pPr>
            <a:r>
              <a:rPr sz="2000" dirty="0">
                <a:latin typeface="Courier New"/>
                <a:cs typeface="Courier New"/>
              </a:rPr>
              <a:t>Circle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circle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new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Circle(</a:t>
            </a:r>
            <a:r>
              <a:rPr sz="2000" b="1" spc="-10" dirty="0">
                <a:latin typeface="Courier New"/>
                <a:cs typeface="Courier New"/>
              </a:rPr>
              <a:t>1</a:t>
            </a:r>
            <a:r>
              <a:rPr sz="2000" spc="-10" dirty="0"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"A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circle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circle.toString());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color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“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circle.getColor());</a:t>
            </a:r>
            <a:endParaRPr sz="2000" dirty="0">
              <a:latin typeface="Courier New"/>
              <a:cs typeface="Courier New"/>
            </a:endParaRPr>
          </a:p>
          <a:p>
            <a:pPr marL="355600" marR="2900045">
              <a:lnSpc>
                <a:spcPct val="8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radius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“</a:t>
            </a:r>
            <a:r>
              <a:rPr sz="2000" spc="-25" dirty="0">
                <a:latin typeface="Courier New"/>
                <a:cs typeface="Courier New"/>
              </a:rPr>
              <a:t>+ </a:t>
            </a:r>
            <a:r>
              <a:rPr sz="2000" spc="-10" dirty="0">
                <a:latin typeface="Courier New"/>
                <a:cs typeface="Courier New"/>
              </a:rPr>
              <a:t>circle.getRadius());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area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dirty="0">
                <a:latin typeface="Courier New"/>
                <a:cs typeface="Courier New"/>
              </a:rPr>
              <a:t>+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circle.getArea());</a:t>
            </a:r>
            <a:endParaRPr sz="2000" dirty="0">
              <a:latin typeface="Courier New"/>
              <a:cs typeface="Courier New"/>
            </a:endParaRPr>
          </a:p>
          <a:p>
            <a:pPr marL="355600" marR="2595245">
              <a:lnSpc>
                <a:spcPct val="8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diameter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“</a:t>
            </a:r>
            <a:r>
              <a:rPr sz="2000" spc="-25" dirty="0">
                <a:latin typeface="Courier New"/>
                <a:cs typeface="Courier New"/>
              </a:rPr>
              <a:t>+ </a:t>
            </a:r>
            <a:r>
              <a:rPr sz="2000" spc="-10" dirty="0">
                <a:latin typeface="Courier New"/>
                <a:cs typeface="Courier New"/>
              </a:rPr>
              <a:t>circle.getDiameter());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1920"/>
              </a:spcBef>
            </a:pPr>
            <a:r>
              <a:rPr sz="2000" dirty="0">
                <a:latin typeface="Courier New"/>
                <a:cs typeface="Courier New"/>
              </a:rPr>
              <a:t>Rectangle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rectangle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new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Rectangle(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4</a:t>
            </a:r>
            <a:r>
              <a:rPr sz="2000" spc="-25" dirty="0"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  <a:p>
            <a:pPr marL="355600" marR="2290445">
              <a:lnSpc>
                <a:spcPct val="80000"/>
              </a:lnSpc>
              <a:spcBef>
                <a:spcPts val="484"/>
              </a:spcBef>
            </a:pP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"\nA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rectangle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+ </a:t>
            </a:r>
            <a:r>
              <a:rPr sz="2000" dirty="0">
                <a:latin typeface="Courier New"/>
                <a:cs typeface="Courier New"/>
              </a:rPr>
              <a:t>rectangle.toString()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); </a:t>
            </a: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area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+ </a:t>
            </a:r>
            <a:r>
              <a:rPr sz="2000" spc="-10" dirty="0">
                <a:latin typeface="Courier New"/>
                <a:cs typeface="Courier New"/>
              </a:rPr>
              <a:t>rectangle.getArea()); </a:t>
            </a:r>
            <a:r>
              <a:rPr sz="2000" dirty="0">
                <a:latin typeface="Courier New"/>
                <a:cs typeface="Courier New"/>
              </a:rPr>
              <a:t>System.out.println(</a:t>
            </a:r>
            <a:r>
              <a:rPr sz="2000" b="1" dirty="0">
                <a:latin typeface="Courier New"/>
                <a:cs typeface="Courier New"/>
              </a:rPr>
              <a:t>"The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perimeter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+ </a:t>
            </a:r>
            <a:r>
              <a:rPr sz="2000" dirty="0">
                <a:latin typeface="Courier New"/>
                <a:cs typeface="Courier New"/>
              </a:rPr>
              <a:t>rectangle.getPerimeter()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  <a:p>
            <a:pPr marL="508000">
              <a:lnSpc>
                <a:spcPts val="192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485" y="328371"/>
            <a:ext cx="2127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Dog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069594"/>
            <a:ext cx="535940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class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Dog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sz="20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urier New"/>
                <a:cs typeface="Courier New"/>
              </a:rPr>
              <a:t>name;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1231265" marR="1376045" indent="-6096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Dog(String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n)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name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n;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926465" marR="918844" indent="-3048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String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getName()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name;</a:t>
            </a:r>
            <a:endParaRPr sz="2000">
              <a:latin typeface="Courier New"/>
              <a:cs typeface="Courier New"/>
            </a:endParaRPr>
          </a:p>
          <a:p>
            <a:pPr marL="5073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31265" marR="5080" indent="-6096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speak()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60" dirty="0">
                <a:latin typeface="Courier New"/>
                <a:cs typeface="Courier New"/>
              </a:rPr>
              <a:t>{ </a:t>
            </a:r>
            <a:r>
              <a:rPr sz="2000" b="1" spc="-10" dirty="0">
                <a:latin typeface="Courier New"/>
                <a:cs typeface="Courier New"/>
              </a:rPr>
              <a:t>System.out.println("Woof");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950" y="454533"/>
            <a:ext cx="1507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 </a:t>
            </a:r>
            <a:r>
              <a:rPr sz="2400" b="1" spc="-25" dirty="0"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298145"/>
            <a:ext cx="19583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Cat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69594"/>
            <a:ext cx="536003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class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sz="20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urier New"/>
                <a:cs typeface="Courier New"/>
              </a:rPr>
              <a:t>name;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Cat(String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n)</a:t>
            </a:r>
            <a:endParaRPr sz="20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name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n;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String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getName()</a:t>
            </a:r>
            <a:endParaRPr sz="20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name;</a:t>
            </a:r>
            <a:endParaRPr sz="2000">
              <a:latin typeface="Courier New"/>
              <a:cs typeface="Courier New"/>
            </a:endParaRPr>
          </a:p>
          <a:p>
            <a:pPr marL="5080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31900" marR="5080" indent="-6096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speak()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60" dirty="0">
                <a:latin typeface="Courier New"/>
                <a:cs typeface="Courier New"/>
              </a:rPr>
              <a:t>{ </a:t>
            </a:r>
            <a:r>
              <a:rPr sz="2000" b="1" spc="-10" dirty="0">
                <a:latin typeface="Courier New"/>
                <a:cs typeface="Courier New"/>
              </a:rPr>
              <a:t>System.out.println("Meow");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3233" y="478663"/>
            <a:ext cx="6174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Problem:</a:t>
            </a:r>
            <a:r>
              <a:rPr sz="4400" b="0" spc="-3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Times New Roman"/>
                <a:cs typeface="Times New Roman"/>
              </a:rPr>
              <a:t>Code</a:t>
            </a:r>
            <a:r>
              <a:rPr sz="4400" b="0" spc="-20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Duplication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970913"/>
            <a:ext cx="7235190" cy="3830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Times New Roman"/>
                <a:cs typeface="Times New Roman"/>
              </a:rPr>
              <a:t>Dog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Cat</a:t>
            </a:r>
            <a:r>
              <a:rPr sz="3200" b="1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name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field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3200" b="1" dirty="0">
                <a:latin typeface="Times New Roman"/>
                <a:cs typeface="Times New Roman"/>
              </a:rPr>
              <a:t>getName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common.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354965" marR="698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1828800" algn="l"/>
                <a:tab pos="2915920" algn="l"/>
                <a:tab pos="3937000" algn="l"/>
                <a:tab pos="4368800" algn="l"/>
                <a:tab pos="5048250" algn="l"/>
                <a:tab pos="5638165" algn="l"/>
                <a:tab pos="6635115" algn="l"/>
              </a:tabLst>
            </a:pPr>
            <a:r>
              <a:rPr sz="3200" spc="-10" dirty="0">
                <a:latin typeface="Times New Roman"/>
                <a:cs typeface="Times New Roman"/>
              </a:rPr>
              <a:t>Classes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often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Times New Roman"/>
                <a:cs typeface="Times New Roman"/>
              </a:rPr>
              <a:t>have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lot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state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behavior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common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Result: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lots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duplicate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sz="3200" spc="-10" dirty="0">
                <a:latin typeface="Times New Roman"/>
                <a:cs typeface="Times New Roman"/>
              </a:rPr>
              <a:t>!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5608" y="493217"/>
            <a:ext cx="4732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Solution:</a:t>
            </a:r>
            <a:r>
              <a:rPr sz="4400" b="0" spc="-35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Inheritance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655191"/>
            <a:ext cx="7539355" cy="42202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  <a:tab pos="2094864" algn="l"/>
                <a:tab pos="3164840" algn="l"/>
                <a:tab pos="3841115" algn="l"/>
                <a:tab pos="4260850" algn="l"/>
                <a:tab pos="5132070" algn="l"/>
                <a:tab pos="5866765" algn="l"/>
                <a:tab pos="6995159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allows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you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write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that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inherit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existing</a:t>
            </a:r>
            <a:r>
              <a:rPr sz="2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marR="5715" indent="-343535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whose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properties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inherited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"parent"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superclass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marR="5715" indent="-343535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inherits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super</a:t>
            </a:r>
            <a:r>
              <a:rPr sz="28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8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"child"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subclass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Result: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reuse</a:t>
            </a:r>
            <a:r>
              <a:rPr sz="2800" spc="-10" dirty="0">
                <a:latin typeface="Times New Roman"/>
                <a:cs typeface="Times New Roman"/>
              </a:rPr>
              <a:t>!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228600"/>
            <a:ext cx="2743200" cy="1386840"/>
          </a:xfrm>
          <a:prstGeom prst="rect">
            <a:avLst/>
          </a:prstGeom>
          <a:solidFill>
            <a:srgbClr val="B8E6E6"/>
          </a:solidFill>
          <a:ln w="952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Dog</a:t>
            </a:r>
            <a:endParaRPr sz="2000">
              <a:latin typeface="Courier New"/>
              <a:cs typeface="Courier New"/>
            </a:endParaRPr>
          </a:p>
          <a:p>
            <a:pPr marL="279400" marR="270510" algn="ctr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name </a:t>
            </a:r>
            <a:r>
              <a:rPr sz="1800" b="1" dirty="0">
                <a:latin typeface="Courier New"/>
                <a:cs typeface="Courier New"/>
              </a:rPr>
              <a:t>String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getName() </a:t>
            </a:r>
            <a:r>
              <a:rPr sz="1800" b="1" dirty="0">
                <a:latin typeface="Courier New"/>
                <a:cs typeface="Courier New"/>
              </a:rPr>
              <a:t>void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speak()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57800" y="228600"/>
            <a:ext cx="2743200" cy="1371600"/>
          </a:xfrm>
          <a:prstGeom prst="rect">
            <a:avLst/>
          </a:prstGeom>
          <a:solidFill>
            <a:srgbClr val="B8E6E6"/>
          </a:solidFill>
          <a:ln w="9525">
            <a:solidFill>
              <a:srgbClr val="000000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Cat</a:t>
            </a:r>
            <a:endParaRPr sz="2000">
              <a:latin typeface="Courier New"/>
              <a:cs typeface="Courier New"/>
            </a:endParaRPr>
          </a:p>
          <a:p>
            <a:pPr marL="280035" marR="269875" algn="ctr">
              <a:lnSpc>
                <a:spcPct val="100000"/>
              </a:lnSpc>
              <a:spcBef>
                <a:spcPts val="25"/>
              </a:spcBef>
            </a:pP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sz="1800" b="1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name </a:t>
            </a:r>
            <a:r>
              <a:rPr sz="1800" b="1" dirty="0">
                <a:latin typeface="Courier New"/>
                <a:cs typeface="Courier New"/>
              </a:rPr>
              <a:t>String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getName() </a:t>
            </a:r>
            <a:r>
              <a:rPr sz="1800" b="1" dirty="0">
                <a:latin typeface="Courier New"/>
                <a:cs typeface="Courier New"/>
              </a:rPr>
              <a:t>void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speak()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3657600"/>
            <a:ext cx="2743200" cy="990600"/>
          </a:xfrm>
          <a:prstGeom prst="rect">
            <a:avLst/>
          </a:prstGeom>
          <a:solidFill>
            <a:srgbClr val="B8E6E6"/>
          </a:solidFill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Animal</a:t>
            </a:r>
            <a:endParaRPr sz="2000">
              <a:latin typeface="Courier New"/>
              <a:cs typeface="Courier New"/>
            </a:endParaRPr>
          </a:p>
          <a:p>
            <a:pPr marL="2540" algn="ctr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Courier New"/>
                <a:cs typeface="Courier New"/>
              </a:rPr>
              <a:t>String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name</a:t>
            </a:r>
            <a:endParaRPr sz="1800">
              <a:latin typeface="Courier New"/>
              <a:cs typeface="Courier New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ourier New"/>
                <a:cs typeface="Courier New"/>
              </a:rPr>
              <a:t>String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getName()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33061" y="4648961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76200" y="114300"/>
                </a:moveTo>
                <a:lnTo>
                  <a:pt x="50800" y="114300"/>
                </a:lnTo>
                <a:lnTo>
                  <a:pt x="50800" y="457200"/>
                </a:lnTo>
                <a:lnTo>
                  <a:pt x="76200" y="457200"/>
                </a:lnTo>
                <a:lnTo>
                  <a:pt x="76200" y="114300"/>
                </a:lnTo>
                <a:close/>
              </a:path>
              <a:path w="127000" h="457200">
                <a:moveTo>
                  <a:pt x="63500" y="0"/>
                </a:moveTo>
                <a:lnTo>
                  <a:pt x="0" y="127000"/>
                </a:lnTo>
                <a:lnTo>
                  <a:pt x="50800" y="127000"/>
                </a:lnTo>
                <a:lnTo>
                  <a:pt x="5080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457200">
                <a:moveTo>
                  <a:pt x="120650" y="114300"/>
                </a:moveTo>
                <a:lnTo>
                  <a:pt x="76200" y="114300"/>
                </a:lnTo>
                <a:lnTo>
                  <a:pt x="7620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38237" y="5093461"/>
          <a:ext cx="6857999" cy="1522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0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Dog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8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speak()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91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8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0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Cat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sz="18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speak()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91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8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348037" y="2357437"/>
            <a:ext cx="2371725" cy="1000125"/>
            <a:chOff x="3348037" y="2357437"/>
            <a:chExt cx="2371725" cy="1000125"/>
          </a:xfrm>
        </p:grpSpPr>
        <p:sp>
          <p:nvSpPr>
            <p:cNvPr id="8" name="object 8"/>
            <p:cNvSpPr/>
            <p:nvPr/>
          </p:nvSpPr>
          <p:spPr>
            <a:xfrm>
              <a:off x="3352800" y="2362200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941449" y="0"/>
                  </a:moveTo>
                  <a:lnTo>
                    <a:pt x="420750" y="0"/>
                  </a:lnTo>
                  <a:lnTo>
                    <a:pt x="420750" y="568325"/>
                  </a:lnTo>
                  <a:lnTo>
                    <a:pt x="0" y="568325"/>
                  </a:lnTo>
                  <a:lnTo>
                    <a:pt x="1181100" y="990600"/>
                  </a:lnTo>
                  <a:lnTo>
                    <a:pt x="2362200" y="568325"/>
                  </a:lnTo>
                  <a:lnTo>
                    <a:pt x="1941449" y="568325"/>
                  </a:lnTo>
                  <a:lnTo>
                    <a:pt x="194144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800" y="2362200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0" y="568325"/>
                  </a:moveTo>
                  <a:lnTo>
                    <a:pt x="420750" y="568325"/>
                  </a:lnTo>
                  <a:lnTo>
                    <a:pt x="420750" y="0"/>
                  </a:lnTo>
                  <a:lnTo>
                    <a:pt x="1941449" y="0"/>
                  </a:lnTo>
                  <a:lnTo>
                    <a:pt x="1941449" y="568325"/>
                  </a:lnTo>
                  <a:lnTo>
                    <a:pt x="2362200" y="568325"/>
                  </a:lnTo>
                  <a:lnTo>
                    <a:pt x="1181100" y="990600"/>
                  </a:lnTo>
                  <a:lnTo>
                    <a:pt x="0" y="568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82973" y="2474721"/>
            <a:ext cx="110426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using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50"/>
              </a:lnSpc>
            </a:pPr>
            <a:r>
              <a:rPr sz="1800" b="1" spc="-10" dirty="0">
                <a:latin typeface="Calibri"/>
                <a:cs typeface="Calibri"/>
              </a:rPr>
              <a:t>inheritance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740" y="3369945"/>
            <a:ext cx="1114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superclass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2809" y="3826840"/>
            <a:ext cx="89979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subclass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02586" y="3651758"/>
            <a:ext cx="1145540" cy="470534"/>
          </a:xfrm>
          <a:custGeom>
            <a:avLst/>
            <a:gdLst/>
            <a:ahLst/>
            <a:cxnLst/>
            <a:rect l="l" t="t" r="r" b="b"/>
            <a:pathLst>
              <a:path w="1145539" h="470535">
                <a:moveTo>
                  <a:pt x="1072257" y="440662"/>
                </a:moveTo>
                <a:lnTo>
                  <a:pt x="1060450" y="470154"/>
                </a:lnTo>
                <a:lnTo>
                  <a:pt x="1145413" y="463042"/>
                </a:lnTo>
                <a:lnTo>
                  <a:pt x="1129697" y="445389"/>
                </a:lnTo>
                <a:lnTo>
                  <a:pt x="1084071" y="445389"/>
                </a:lnTo>
                <a:lnTo>
                  <a:pt x="1072257" y="440662"/>
                </a:lnTo>
                <a:close/>
              </a:path>
              <a:path w="1145539" h="470535">
                <a:moveTo>
                  <a:pt x="1076981" y="428862"/>
                </a:moveTo>
                <a:lnTo>
                  <a:pt x="1072257" y="440662"/>
                </a:lnTo>
                <a:lnTo>
                  <a:pt x="1084071" y="445389"/>
                </a:lnTo>
                <a:lnTo>
                  <a:pt x="1088770" y="433578"/>
                </a:lnTo>
                <a:lnTo>
                  <a:pt x="1076981" y="428862"/>
                </a:lnTo>
                <a:close/>
              </a:path>
              <a:path w="1145539" h="470535">
                <a:moveTo>
                  <a:pt x="1088770" y="399415"/>
                </a:moveTo>
                <a:lnTo>
                  <a:pt x="1076981" y="428862"/>
                </a:lnTo>
                <a:lnTo>
                  <a:pt x="1088770" y="433578"/>
                </a:lnTo>
                <a:lnTo>
                  <a:pt x="1084071" y="445389"/>
                </a:lnTo>
                <a:lnTo>
                  <a:pt x="1129697" y="445389"/>
                </a:lnTo>
                <a:lnTo>
                  <a:pt x="1088770" y="399415"/>
                </a:lnTo>
                <a:close/>
              </a:path>
              <a:path w="1145539" h="470535">
                <a:moveTo>
                  <a:pt x="4825" y="0"/>
                </a:moveTo>
                <a:lnTo>
                  <a:pt x="0" y="11684"/>
                </a:lnTo>
                <a:lnTo>
                  <a:pt x="1072257" y="440662"/>
                </a:lnTo>
                <a:lnTo>
                  <a:pt x="1076981" y="428862"/>
                </a:lnTo>
                <a:lnTo>
                  <a:pt x="4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79334" y="4188967"/>
            <a:ext cx="399415" cy="1145540"/>
          </a:xfrm>
          <a:custGeom>
            <a:avLst/>
            <a:gdLst/>
            <a:ahLst/>
            <a:cxnLst/>
            <a:rect l="l" t="t" r="r" b="b"/>
            <a:pathLst>
              <a:path w="399415" h="1145539">
                <a:moveTo>
                  <a:pt x="0" y="1060703"/>
                </a:moveTo>
                <a:lnTo>
                  <a:pt x="12065" y="1145031"/>
                </a:lnTo>
                <a:lnTo>
                  <a:pt x="70358" y="1086738"/>
                </a:lnTo>
                <a:lnTo>
                  <a:pt x="38226" y="1086738"/>
                </a:lnTo>
                <a:lnTo>
                  <a:pt x="26162" y="1082801"/>
                </a:lnTo>
                <a:lnTo>
                  <a:pt x="30169" y="1070778"/>
                </a:lnTo>
                <a:lnTo>
                  <a:pt x="0" y="1060703"/>
                </a:lnTo>
                <a:close/>
              </a:path>
              <a:path w="399415" h="1145539">
                <a:moveTo>
                  <a:pt x="30169" y="1070778"/>
                </a:moveTo>
                <a:lnTo>
                  <a:pt x="26162" y="1082801"/>
                </a:lnTo>
                <a:lnTo>
                  <a:pt x="38226" y="1086738"/>
                </a:lnTo>
                <a:lnTo>
                  <a:pt x="42206" y="1074797"/>
                </a:lnTo>
                <a:lnTo>
                  <a:pt x="30169" y="1070778"/>
                </a:lnTo>
                <a:close/>
              </a:path>
              <a:path w="399415" h="1145539">
                <a:moveTo>
                  <a:pt x="42206" y="1074797"/>
                </a:moveTo>
                <a:lnTo>
                  <a:pt x="38226" y="1086738"/>
                </a:lnTo>
                <a:lnTo>
                  <a:pt x="70358" y="1086738"/>
                </a:lnTo>
                <a:lnTo>
                  <a:pt x="72263" y="1084833"/>
                </a:lnTo>
                <a:lnTo>
                  <a:pt x="42206" y="1074797"/>
                </a:lnTo>
                <a:close/>
              </a:path>
              <a:path w="399415" h="1145539">
                <a:moveTo>
                  <a:pt x="387096" y="0"/>
                </a:moveTo>
                <a:lnTo>
                  <a:pt x="30169" y="1070778"/>
                </a:lnTo>
                <a:lnTo>
                  <a:pt x="42206" y="1074797"/>
                </a:lnTo>
                <a:lnTo>
                  <a:pt x="399034" y="4063"/>
                </a:lnTo>
                <a:lnTo>
                  <a:pt x="387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3540" y="4284726"/>
            <a:ext cx="898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subclass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9116" y="4644644"/>
            <a:ext cx="462915" cy="689610"/>
          </a:xfrm>
          <a:custGeom>
            <a:avLst/>
            <a:gdLst/>
            <a:ahLst/>
            <a:cxnLst/>
            <a:rect l="l" t="t" r="r" b="b"/>
            <a:pathLst>
              <a:path w="462915" h="689610">
                <a:moveTo>
                  <a:pt x="414908" y="629487"/>
                </a:moveTo>
                <a:lnTo>
                  <a:pt x="388569" y="647064"/>
                </a:lnTo>
                <a:lnTo>
                  <a:pt x="462483" y="689355"/>
                </a:lnTo>
                <a:lnTo>
                  <a:pt x="456342" y="640079"/>
                </a:lnTo>
                <a:lnTo>
                  <a:pt x="421970" y="640079"/>
                </a:lnTo>
                <a:lnTo>
                  <a:pt x="414908" y="629487"/>
                </a:lnTo>
                <a:close/>
              </a:path>
              <a:path w="462915" h="689610">
                <a:moveTo>
                  <a:pt x="425485" y="622429"/>
                </a:moveTo>
                <a:lnTo>
                  <a:pt x="414908" y="629487"/>
                </a:lnTo>
                <a:lnTo>
                  <a:pt x="421970" y="640079"/>
                </a:lnTo>
                <a:lnTo>
                  <a:pt x="432511" y="632967"/>
                </a:lnTo>
                <a:lnTo>
                  <a:pt x="425485" y="622429"/>
                </a:lnTo>
                <a:close/>
              </a:path>
              <a:path w="462915" h="689610">
                <a:moveTo>
                  <a:pt x="451942" y="604773"/>
                </a:moveTo>
                <a:lnTo>
                  <a:pt x="425485" y="622429"/>
                </a:lnTo>
                <a:lnTo>
                  <a:pt x="432511" y="632967"/>
                </a:lnTo>
                <a:lnTo>
                  <a:pt x="421970" y="640079"/>
                </a:lnTo>
                <a:lnTo>
                  <a:pt x="456342" y="640079"/>
                </a:lnTo>
                <a:lnTo>
                  <a:pt x="451942" y="604773"/>
                </a:lnTo>
                <a:close/>
              </a:path>
              <a:path w="462915" h="689610">
                <a:moveTo>
                  <a:pt x="10566" y="0"/>
                </a:moveTo>
                <a:lnTo>
                  <a:pt x="0" y="7111"/>
                </a:lnTo>
                <a:lnTo>
                  <a:pt x="414908" y="629487"/>
                </a:lnTo>
                <a:lnTo>
                  <a:pt x="425485" y="622429"/>
                </a:lnTo>
                <a:lnTo>
                  <a:pt x="10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045" y="404571"/>
            <a:ext cx="3849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Animal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Superclass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597278"/>
            <a:ext cx="532066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public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class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Animal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44220" marR="5080">
              <a:lnSpc>
                <a:spcPts val="5760"/>
              </a:lnSpc>
              <a:spcBef>
                <a:spcPts val="670"/>
              </a:spcBef>
            </a:pPr>
            <a:r>
              <a:rPr sz="2400" b="1" dirty="0">
                <a:latin typeface="Courier New"/>
                <a:cs typeface="Courier New"/>
              </a:rPr>
              <a:t>private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String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name; </a:t>
            </a:r>
            <a:r>
              <a:rPr sz="2400" b="1" dirty="0">
                <a:latin typeface="Courier New"/>
                <a:cs typeface="Courier New"/>
              </a:rPr>
              <a:t>public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Animal(String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n)</a:t>
            </a:r>
            <a:r>
              <a:rPr sz="2400" b="1" spc="-50" dirty="0">
                <a:latin typeface="Courier New"/>
                <a:cs typeface="Courier New"/>
              </a:rPr>
              <a:t> {</a:t>
            </a:r>
            <a:endParaRPr sz="2400">
              <a:latin typeface="Courier New"/>
              <a:cs typeface="Courier New"/>
            </a:endParaRPr>
          </a:p>
          <a:p>
            <a:pPr marL="1472565">
              <a:lnSpc>
                <a:spcPts val="2210"/>
              </a:lnSpc>
            </a:pPr>
            <a:r>
              <a:rPr sz="2400" b="1" dirty="0">
                <a:latin typeface="Courier New"/>
                <a:cs typeface="Courier New"/>
              </a:rPr>
              <a:t>name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n;</a:t>
            </a:r>
            <a:endParaRPr sz="24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Courier New"/>
              <a:cs typeface="Courier New"/>
            </a:endParaRPr>
          </a:p>
          <a:p>
            <a:pPr marL="1472565" marR="5080" indent="-72898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public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String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getName()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 </a:t>
            </a:r>
            <a:r>
              <a:rPr sz="2400" b="1" dirty="0">
                <a:latin typeface="Courier New"/>
                <a:cs typeface="Courier New"/>
              </a:rPr>
              <a:t>return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name;</a:t>
            </a:r>
            <a:endParaRPr sz="24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157" y="252171"/>
            <a:ext cx="2806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Dog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298194"/>
            <a:ext cx="6883400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 marR="1832610" indent="-6096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class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Dog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extends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Animal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Dog(String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n)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31265" marR="508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super(n);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calls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Animal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>
                <a:solidFill>
                  <a:srgbClr val="FF0000"/>
                </a:solidFill>
                <a:latin typeface="Courier New"/>
                <a:cs typeface="Courier New"/>
              </a:rPr>
              <a:t>constructor 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speak()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60" dirty="0"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System.out.println("Woof");</a:t>
            </a:r>
            <a:endParaRPr sz="2000" dirty="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978" y="328371"/>
            <a:ext cx="2636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Cat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Subclass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374089"/>
            <a:ext cx="6883400" cy="3685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class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Cat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extends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Animal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Cat(String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n)</a:t>
            </a:r>
            <a:endParaRPr sz="2000">
              <a:latin typeface="Courier New"/>
              <a:cs typeface="Courier New"/>
            </a:endParaRPr>
          </a:p>
          <a:p>
            <a:pPr marL="10788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super(n);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calls</a:t>
            </a:r>
            <a:r>
              <a:rPr sz="20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/>
                <a:cs typeface="Courier New"/>
              </a:rPr>
              <a:t>Animal</a:t>
            </a:r>
            <a:r>
              <a:rPr sz="20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ourier New"/>
                <a:cs typeface="Courier New"/>
              </a:rPr>
              <a:t>constructor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public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void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speak()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System.out.println("Meow");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0694" y="79959"/>
            <a:ext cx="4391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latin typeface="Constantia"/>
                <a:cs typeface="Constantia"/>
              </a:rPr>
              <a:t>Types</a:t>
            </a:r>
            <a:r>
              <a:rPr sz="3600" spc="-150" dirty="0">
                <a:latin typeface="Constantia"/>
                <a:cs typeface="Constantia"/>
              </a:rPr>
              <a:t> </a:t>
            </a:r>
            <a:r>
              <a:rPr sz="3600" dirty="0">
                <a:latin typeface="Constantia"/>
                <a:cs typeface="Constantia"/>
              </a:rPr>
              <a:t>of</a:t>
            </a:r>
            <a:r>
              <a:rPr sz="3600" spc="100" dirty="0">
                <a:latin typeface="Constantia"/>
                <a:cs typeface="Constantia"/>
              </a:rPr>
              <a:t> </a:t>
            </a:r>
            <a:r>
              <a:rPr sz="3600" spc="-10" dirty="0">
                <a:latin typeface="Constantia"/>
                <a:cs typeface="Constantia"/>
              </a:rPr>
              <a:t>inheritance</a:t>
            </a:r>
            <a:endParaRPr sz="36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11453"/>
            <a:ext cx="828865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indent="442595" algn="just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455295" algn="l"/>
              </a:tabLst>
            </a:pPr>
            <a:r>
              <a:rPr sz="2400" b="1" dirty="0">
                <a:latin typeface="Constantia"/>
                <a:cs typeface="Constantia"/>
              </a:rPr>
              <a:t>Single</a:t>
            </a:r>
            <a:r>
              <a:rPr sz="2400" b="1" spc="49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level</a:t>
            </a:r>
            <a:r>
              <a:rPr sz="2400" b="1" spc="53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inheritance:-</a:t>
            </a:r>
            <a:r>
              <a:rPr sz="2400" b="1" spc="5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Inheritance</a:t>
            </a:r>
            <a:r>
              <a:rPr sz="2400" spc="4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</a:t>
            </a:r>
            <a:r>
              <a:rPr sz="2400" spc="4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which</a:t>
            </a:r>
            <a:r>
              <a:rPr sz="2400" spc="4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4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class inherits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only</a:t>
            </a:r>
            <a:r>
              <a:rPr sz="24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one</a:t>
            </a:r>
            <a:r>
              <a:rPr sz="2400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super</a:t>
            </a:r>
            <a:r>
              <a:rPr sz="2400" spc="-14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class</a:t>
            </a:r>
            <a:r>
              <a:rPr sz="2400" spc="-10" dirty="0"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  <a:p>
            <a:pPr marL="12700" marR="9525" indent="427990" algn="just">
              <a:lnSpc>
                <a:spcPct val="100000"/>
              </a:lnSpc>
              <a:spcBef>
                <a:spcPts val="580"/>
              </a:spcBef>
              <a:buFont typeface="Constantia"/>
              <a:buAutoNum type="alphaUcPeriod"/>
              <a:tabLst>
                <a:tab pos="440690" algn="l"/>
              </a:tabLst>
            </a:pPr>
            <a:r>
              <a:rPr sz="2400" b="1" spc="-25" dirty="0">
                <a:latin typeface="Constantia"/>
                <a:cs typeface="Constantia"/>
              </a:rPr>
              <a:t>Multi-</a:t>
            </a:r>
            <a:r>
              <a:rPr sz="2400" b="1" dirty="0">
                <a:latin typeface="Constantia"/>
                <a:cs typeface="Constantia"/>
              </a:rPr>
              <a:t>level</a:t>
            </a:r>
            <a:r>
              <a:rPr sz="2400" b="1" spc="90" dirty="0">
                <a:latin typeface="Constantia"/>
                <a:cs typeface="Constantia"/>
              </a:rPr>
              <a:t>  </a:t>
            </a:r>
            <a:r>
              <a:rPr sz="2400" b="1" dirty="0">
                <a:latin typeface="Constantia"/>
                <a:cs typeface="Constantia"/>
              </a:rPr>
              <a:t>inheritance:-</a:t>
            </a:r>
            <a:r>
              <a:rPr sz="2400" b="1" spc="9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Inheritance</a:t>
            </a:r>
            <a:r>
              <a:rPr sz="2400" spc="35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in</a:t>
            </a:r>
            <a:r>
              <a:rPr sz="2400" spc="45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which</a:t>
            </a:r>
            <a:r>
              <a:rPr sz="2400" spc="45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35" dirty="0">
                <a:latin typeface="Constantia"/>
                <a:cs typeface="Constantia"/>
              </a:rPr>
              <a:t>  </a:t>
            </a:r>
            <a:r>
              <a:rPr sz="2400" spc="-10" dirty="0">
                <a:latin typeface="Constantia"/>
                <a:cs typeface="Constantia"/>
              </a:rPr>
              <a:t>class inherits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class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which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itself</a:t>
            </a:r>
            <a:r>
              <a:rPr sz="2400" spc="1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inherits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another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class.</a:t>
            </a:r>
            <a:endParaRPr sz="2400">
              <a:latin typeface="Constantia"/>
              <a:cs typeface="Constantia"/>
            </a:endParaRPr>
          </a:p>
          <a:p>
            <a:pPr marL="354965" lvl="1" indent="-342265" algn="just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45" dirty="0">
                <a:latin typeface="Constantia"/>
                <a:cs typeface="Constantia"/>
              </a:rPr>
              <a:t>Here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a</a:t>
            </a:r>
            <a:r>
              <a:rPr sz="2400" spc="-9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minimum</a:t>
            </a:r>
            <a:r>
              <a:rPr sz="2400" spc="-114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of</a:t>
            </a:r>
            <a:r>
              <a:rPr sz="2400" spc="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three</a:t>
            </a:r>
            <a:r>
              <a:rPr sz="24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classes</a:t>
            </a:r>
            <a:r>
              <a:rPr sz="2400" spc="-4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required.</a:t>
            </a:r>
            <a:endParaRPr sz="2400">
              <a:latin typeface="Constantia"/>
              <a:cs typeface="Constantia"/>
            </a:endParaRPr>
          </a:p>
          <a:p>
            <a:pPr marL="12700" marR="6350" indent="374650" algn="just">
              <a:lnSpc>
                <a:spcPct val="100000"/>
              </a:lnSpc>
              <a:spcBef>
                <a:spcPts val="575"/>
              </a:spcBef>
              <a:buFont typeface="Constantia"/>
              <a:buAutoNum type="alphaUcPeriod" startAt="3"/>
              <a:tabLst>
                <a:tab pos="387350" algn="l"/>
              </a:tabLst>
            </a:pPr>
            <a:r>
              <a:rPr sz="2400" b="1" dirty="0">
                <a:latin typeface="Constantia"/>
                <a:cs typeface="Constantia"/>
              </a:rPr>
              <a:t>Hierarchy</a:t>
            </a:r>
            <a:r>
              <a:rPr sz="2400" b="1" spc="-3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inheritance</a:t>
            </a:r>
            <a:r>
              <a:rPr sz="2400" dirty="0">
                <a:latin typeface="Constantia"/>
                <a:cs typeface="Constantia"/>
              </a:rPr>
              <a:t>:-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Here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two</a:t>
            </a:r>
            <a:r>
              <a:rPr sz="2400" spc="-4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or</a:t>
            </a:r>
            <a:r>
              <a:rPr sz="2400" spc="-7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more</a:t>
            </a:r>
            <a:r>
              <a:rPr sz="2400" spc="-5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classes</a:t>
            </a:r>
            <a:r>
              <a:rPr sz="2400" spc="-3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inherits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345" dirty="0">
                <a:latin typeface="Constantia"/>
                <a:cs typeface="Constantia"/>
              </a:rPr>
              <a:t> 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one</a:t>
            </a:r>
            <a:r>
              <a:rPr sz="2400" spc="345" dirty="0">
                <a:solidFill>
                  <a:srgbClr val="FF0000"/>
                </a:solidFill>
                <a:latin typeface="Constantia"/>
                <a:cs typeface="Constantia"/>
              </a:rPr>
              <a:t> 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class</a:t>
            </a:r>
            <a:r>
              <a:rPr sz="2400" dirty="0">
                <a:latin typeface="Constantia"/>
                <a:cs typeface="Constantia"/>
              </a:rPr>
              <a:t>.</a:t>
            </a:r>
            <a:r>
              <a:rPr sz="2400" spc="37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Multiple</a:t>
            </a:r>
            <a:r>
              <a:rPr sz="2400" spc="335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classes</a:t>
            </a:r>
            <a:r>
              <a:rPr sz="2400" spc="34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inherit</a:t>
            </a:r>
            <a:r>
              <a:rPr sz="2400" spc="34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35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335" dirty="0">
                <a:latin typeface="Constantia"/>
                <a:cs typeface="Constantia"/>
              </a:rPr>
              <a:t>  </a:t>
            </a:r>
            <a:r>
              <a:rPr sz="2400" spc="-10" dirty="0">
                <a:latin typeface="Constantia"/>
                <a:cs typeface="Constantia"/>
              </a:rPr>
              <a:t>single superclass.</a:t>
            </a:r>
            <a:endParaRPr sz="2400">
              <a:latin typeface="Constantia"/>
              <a:cs typeface="Constantia"/>
            </a:endParaRPr>
          </a:p>
          <a:p>
            <a:pPr marL="12700" marR="5080" indent="394970" algn="just">
              <a:lnSpc>
                <a:spcPct val="100000"/>
              </a:lnSpc>
              <a:spcBef>
                <a:spcPts val="580"/>
              </a:spcBef>
              <a:buFont typeface="Constantia"/>
              <a:buAutoNum type="alphaUcPeriod" startAt="3"/>
              <a:tabLst>
                <a:tab pos="407670" algn="l"/>
              </a:tabLst>
            </a:pPr>
            <a:r>
              <a:rPr sz="2400" b="1" dirty="0">
                <a:latin typeface="Constantia"/>
                <a:cs typeface="Constantia"/>
              </a:rPr>
              <a:t>Multiple</a:t>
            </a:r>
            <a:r>
              <a:rPr sz="2400" b="1" spc="15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inheritance:-</a:t>
            </a:r>
            <a:r>
              <a:rPr sz="2400" b="1" spc="2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1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class</a:t>
            </a:r>
            <a:r>
              <a:rPr sz="2400" spc="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inherits</a:t>
            </a:r>
            <a:r>
              <a:rPr sz="2400" spc="130" dirty="0"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from</a:t>
            </a:r>
            <a:r>
              <a:rPr sz="2400" spc="15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two</a:t>
            </a:r>
            <a:r>
              <a:rPr sz="2400" spc="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or</a:t>
            </a:r>
            <a:r>
              <a:rPr sz="2400" spc="114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more </a:t>
            </a:r>
            <a:r>
              <a:rPr sz="2400" dirty="0">
                <a:latin typeface="Constantia"/>
                <a:cs typeface="Constantia"/>
              </a:rPr>
              <a:t>classes.</a:t>
            </a:r>
            <a:r>
              <a:rPr sz="2400" spc="1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Java</a:t>
            </a:r>
            <a:r>
              <a:rPr sz="2400" spc="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does</a:t>
            </a:r>
            <a:r>
              <a:rPr sz="2400" spc="1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not</a:t>
            </a:r>
            <a:r>
              <a:rPr sz="2400" spc="1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support</a:t>
            </a:r>
            <a:r>
              <a:rPr sz="2400" spc="1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multiple</a:t>
            </a:r>
            <a:r>
              <a:rPr sz="2400" spc="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inheritance</a:t>
            </a:r>
            <a:r>
              <a:rPr sz="2400" spc="1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of</a:t>
            </a:r>
            <a:r>
              <a:rPr sz="2400" spc="2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classes, </a:t>
            </a:r>
            <a:r>
              <a:rPr sz="2400" dirty="0">
                <a:latin typeface="Constantia"/>
                <a:cs typeface="Constantia"/>
              </a:rPr>
              <a:t>where</a:t>
            </a:r>
            <a:r>
              <a:rPr sz="2400" spc="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class</a:t>
            </a:r>
            <a:r>
              <a:rPr sz="2400" spc="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can</a:t>
            </a:r>
            <a:r>
              <a:rPr sz="2400" spc="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inherit</a:t>
            </a:r>
            <a:r>
              <a:rPr sz="2400" spc="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from</a:t>
            </a:r>
            <a:r>
              <a:rPr sz="2400" spc="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multiple</a:t>
            </a:r>
            <a:r>
              <a:rPr sz="2400" spc="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classes.</a:t>
            </a:r>
            <a:r>
              <a:rPr sz="2400" spc="114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However,</a:t>
            </a:r>
            <a:r>
              <a:rPr sz="2400" spc="11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Java </a:t>
            </a:r>
            <a:r>
              <a:rPr sz="2400" dirty="0">
                <a:latin typeface="Constantia"/>
                <a:cs typeface="Constantia"/>
              </a:rPr>
              <a:t>supports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multiple</a:t>
            </a:r>
            <a:r>
              <a:rPr sz="2400" spc="-9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inheritance</a:t>
            </a:r>
            <a:r>
              <a:rPr sz="2400" spc="-10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through</a:t>
            </a:r>
            <a:r>
              <a:rPr sz="2400" spc="-6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interfaces.</a:t>
            </a:r>
            <a:endParaRPr sz="2400">
              <a:latin typeface="Constantia"/>
              <a:cs typeface="Constantia"/>
            </a:endParaRPr>
          </a:p>
          <a:p>
            <a:pPr marL="12700" marR="7620" indent="513080" algn="just">
              <a:lnSpc>
                <a:spcPct val="100000"/>
              </a:lnSpc>
              <a:spcBef>
                <a:spcPts val="580"/>
              </a:spcBef>
              <a:buFont typeface="Constantia"/>
              <a:buAutoNum type="alphaUcPeriod" startAt="3"/>
              <a:tabLst>
                <a:tab pos="525780" algn="l"/>
              </a:tabLst>
            </a:pPr>
            <a:r>
              <a:rPr sz="2400" b="1" dirty="0">
                <a:latin typeface="Constantia"/>
                <a:cs typeface="Constantia"/>
              </a:rPr>
              <a:t>Hybrid</a:t>
            </a:r>
            <a:r>
              <a:rPr sz="2400" b="1" spc="415" dirty="0">
                <a:latin typeface="Constantia"/>
                <a:cs typeface="Constantia"/>
              </a:rPr>
              <a:t>  </a:t>
            </a:r>
            <a:r>
              <a:rPr sz="2400" b="1" dirty="0">
                <a:latin typeface="Constantia"/>
                <a:cs typeface="Constantia"/>
              </a:rPr>
              <a:t>Inheritance</a:t>
            </a:r>
            <a:r>
              <a:rPr sz="2400" dirty="0">
                <a:latin typeface="Constantia"/>
                <a:cs typeface="Constantia"/>
              </a:rPr>
              <a:t>:</a:t>
            </a:r>
            <a:r>
              <a:rPr sz="2400" spc="39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is</a:t>
            </a:r>
            <a:r>
              <a:rPr sz="2400" spc="365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36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combination</a:t>
            </a:r>
            <a:r>
              <a:rPr sz="2400" spc="370" dirty="0">
                <a:latin typeface="Constantia"/>
                <a:cs typeface="Constantia"/>
              </a:rPr>
              <a:t>  </a:t>
            </a:r>
            <a:r>
              <a:rPr sz="2400" dirty="0">
                <a:latin typeface="Constantia"/>
                <a:cs typeface="Constantia"/>
              </a:rPr>
              <a:t>of</a:t>
            </a:r>
            <a:r>
              <a:rPr sz="2400" spc="420" dirty="0">
                <a:latin typeface="Constantia"/>
                <a:cs typeface="Constantia"/>
              </a:rPr>
              <a:t>  </a:t>
            </a:r>
            <a:r>
              <a:rPr sz="2400" spc="-10" dirty="0">
                <a:latin typeface="Constantia"/>
                <a:cs typeface="Constantia"/>
              </a:rPr>
              <a:t>multiple </a:t>
            </a:r>
            <a:r>
              <a:rPr sz="2400" spc="-20" dirty="0">
                <a:latin typeface="Constantia"/>
                <a:cs typeface="Constantia"/>
              </a:rPr>
              <a:t>inheritance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and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multilevel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inheritance.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586" y="481076"/>
            <a:ext cx="38658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Constantia"/>
                <a:cs typeface="Constantia"/>
              </a:rPr>
              <a:t>Inheritance</a:t>
            </a:r>
            <a:r>
              <a:rPr sz="3600" spc="-130" dirty="0">
                <a:latin typeface="Constantia"/>
                <a:cs typeface="Constantia"/>
              </a:rPr>
              <a:t> </a:t>
            </a:r>
            <a:r>
              <a:rPr sz="3600" spc="-10" dirty="0">
                <a:latin typeface="Constantia"/>
                <a:cs typeface="Constantia"/>
              </a:rPr>
              <a:t>Types</a:t>
            </a:r>
            <a:endParaRPr sz="3600">
              <a:latin typeface="Constantia"/>
              <a:cs typeface="Constant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4" y="1196339"/>
            <a:ext cx="7877556" cy="55153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168605"/>
            <a:ext cx="7483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"/>
                <a:cs typeface="Calibri"/>
              </a:rPr>
              <a:t>Method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Overriding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37005"/>
            <a:ext cx="807275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635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Method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overriding</a:t>
            </a:r>
            <a:r>
              <a:rPr sz="2400" b="1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own 	</a:t>
            </a: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already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its 	</a:t>
            </a:r>
            <a:r>
              <a:rPr sz="2400" spc="-10" dirty="0">
                <a:latin typeface="Times New Roman"/>
                <a:cs typeface="Times New Roman"/>
              </a:rPr>
              <a:t>superclass.</a:t>
            </a:r>
            <a:endParaRPr sz="2400">
              <a:latin typeface="Times New Roman"/>
              <a:cs typeface="Times New Roman"/>
            </a:endParaRPr>
          </a:p>
          <a:p>
            <a:pPr marL="353060" marR="6350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spc="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400" spc="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words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redefines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an 	</a:t>
            </a:r>
            <a:r>
              <a:rPr sz="2400" dirty="0">
                <a:latin typeface="Times New Roman"/>
                <a:cs typeface="Times New Roman"/>
              </a:rPr>
              <a:t>inherited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subclass</a:t>
            </a:r>
            <a:r>
              <a:rPr sz="24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name,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return 	</a:t>
            </a:r>
            <a:r>
              <a:rPr sz="2400" dirty="0">
                <a:latin typeface="Times New Roman"/>
                <a:cs typeface="Times New Roman"/>
              </a:rPr>
              <a:t>type,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 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6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8514" y="-105663"/>
            <a:ext cx="3966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"/>
                <a:cs typeface="Calibri"/>
              </a:rPr>
              <a:t>Method</a:t>
            </a:r>
            <a:r>
              <a:rPr b="0" spc="-1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Overriding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6562" y="915161"/>
            <a:ext cx="7696200" cy="5943600"/>
          </a:xfrm>
          <a:custGeom>
            <a:avLst/>
            <a:gdLst/>
            <a:ahLst/>
            <a:cxnLst/>
            <a:rect l="l" t="t" r="r" b="b"/>
            <a:pathLst>
              <a:path w="7696200" h="5943600">
                <a:moveTo>
                  <a:pt x="0" y="5943600"/>
                </a:moveTo>
                <a:lnTo>
                  <a:pt x="7696200" y="5943600"/>
                </a:lnTo>
                <a:lnTo>
                  <a:pt x="7696200" y="0"/>
                </a:lnTo>
                <a:lnTo>
                  <a:pt x="0" y="0"/>
                </a:lnTo>
                <a:lnTo>
                  <a:pt x="0" y="5943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373549"/>
            <a:ext cx="5735955" cy="611822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Animal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makeSound()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System.out.println("Generic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sound");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extends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Animal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660400" marR="2381885" indent="-2108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makeSound()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System.out.println("Meow");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args)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new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Animal();</a:t>
            </a:r>
            <a:endParaRPr sz="180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animal.makeSound();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//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Generic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sound</a:t>
            </a:r>
            <a:endParaRPr sz="1800">
              <a:latin typeface="Calibri"/>
              <a:cs typeface="Calibri"/>
            </a:endParaRPr>
          </a:p>
          <a:p>
            <a:pPr marL="660400" marR="178435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Cat();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cat.makeSound();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632" y="6465519"/>
            <a:ext cx="168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5970">
              <a:lnSpc>
                <a:spcPct val="100000"/>
              </a:lnSpc>
              <a:spcBef>
                <a:spcPts val="95"/>
              </a:spcBef>
            </a:pPr>
            <a:r>
              <a:rPr dirty="0"/>
              <a:t>Overriding</a:t>
            </a:r>
            <a:r>
              <a:rPr spc="-18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35634"/>
            <a:ext cx="8532495" cy="55949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Several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points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noting:</a:t>
            </a:r>
            <a:endParaRPr sz="3200">
              <a:latin typeface="Times New Roman"/>
              <a:cs typeface="Times New Roman"/>
            </a:endParaRPr>
          </a:p>
          <a:p>
            <a:pPr marL="755015" marR="6350" lvl="1" indent="-285750">
              <a:lnSpc>
                <a:spcPts val="3030"/>
              </a:lnSpc>
              <a:spcBef>
                <a:spcPts val="715"/>
              </a:spcBef>
              <a:buFont typeface="Arial MT"/>
              <a:buChar char="–"/>
              <a:tabLst>
                <a:tab pos="756285" algn="l"/>
                <a:tab pos="1350645" algn="l"/>
                <a:tab pos="2675255" algn="l"/>
                <a:tab pos="3900804" algn="l"/>
                <a:tab pos="4552950" algn="l"/>
                <a:tab pos="5048250" algn="l"/>
                <a:tab pos="6751320" algn="l"/>
                <a:tab pos="7545070" algn="l"/>
                <a:tab pos="7922895" algn="l"/>
                <a:tab pos="8279765" algn="l"/>
              </a:tabLst>
            </a:pPr>
            <a:r>
              <a:rPr sz="2800" spc="-2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instance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method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can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overridden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only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spc="-10" dirty="0">
                <a:latin typeface="Times New Roman"/>
                <a:cs typeface="Times New Roman"/>
              </a:rPr>
              <a:t>accessible.</a:t>
            </a:r>
            <a:endParaRPr sz="2800">
              <a:latin typeface="Times New Roman"/>
              <a:cs typeface="Times New Roman"/>
            </a:endParaRPr>
          </a:p>
          <a:p>
            <a:pPr marL="1154430" marR="5715" lvl="2" indent="-227329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private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4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overridden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outside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 </a:t>
            </a:r>
            <a:r>
              <a:rPr sz="2400" spc="-10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1154430" marR="8890" lvl="2" indent="-227329">
              <a:lnSpc>
                <a:spcPts val="2590"/>
              </a:lnSpc>
              <a:spcBef>
                <a:spcPts val="585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private</a:t>
            </a:r>
            <a:r>
              <a:rPr sz="24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superclass,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unrelated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ts val="3030"/>
              </a:lnSpc>
              <a:spcBef>
                <a:spcPts val="660"/>
              </a:spcBef>
              <a:buFont typeface="Arial MT"/>
              <a:buChar char="–"/>
              <a:tabLst>
                <a:tab pos="756285" algn="l"/>
                <a:tab pos="1614170" algn="l"/>
                <a:tab pos="2157095" algn="l"/>
                <a:tab pos="3528695" algn="l"/>
                <a:tab pos="4890135" algn="l"/>
                <a:tab pos="5253990" algn="l"/>
                <a:tab pos="6209665" algn="l"/>
                <a:tab pos="7484109" algn="l"/>
                <a:tab pos="8181975" algn="l"/>
              </a:tabLst>
            </a:pPr>
            <a:r>
              <a:rPr sz="2800" spc="-20" dirty="0">
                <a:latin typeface="Times New Roman"/>
                <a:cs typeface="Times New Roman"/>
              </a:rPr>
              <a:t>Like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instance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method,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static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method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can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be 	</a:t>
            </a:r>
            <a:r>
              <a:rPr sz="2800" spc="-10" dirty="0">
                <a:latin typeface="Times New Roman"/>
                <a:cs typeface="Times New Roman"/>
              </a:rPr>
              <a:t>inherited.</a:t>
            </a:r>
            <a:endParaRPr sz="2800">
              <a:latin typeface="Times New Roman"/>
              <a:cs typeface="Times New Roman"/>
            </a:endParaRPr>
          </a:p>
          <a:p>
            <a:pPr marL="1154430" lvl="2" indent="-227329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Times New Roman"/>
                <a:cs typeface="Times New Roman"/>
              </a:rPr>
              <a:t>However,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overridden.</a:t>
            </a:r>
            <a:endParaRPr sz="240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735"/>
              </a:lnSpc>
              <a:spcBef>
                <a:spcPts val="28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superclass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redefined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1557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subclass,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superclass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hidden.</a:t>
            </a:r>
            <a:endParaRPr sz="2400">
              <a:latin typeface="Times New Roman"/>
              <a:cs typeface="Times New Roman"/>
            </a:endParaRPr>
          </a:p>
          <a:p>
            <a:pPr marL="1154430" lvl="2" indent="-227329">
              <a:lnSpc>
                <a:spcPts val="2705"/>
              </a:lnSpc>
              <a:spcBef>
                <a:spcPts val="29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hidden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invoked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syntax</a:t>
            </a:r>
            <a:endParaRPr sz="2400">
              <a:latin typeface="Times New Roman"/>
              <a:cs typeface="Times New Roman"/>
            </a:endParaRPr>
          </a:p>
          <a:p>
            <a:pPr marL="1155700">
              <a:lnSpc>
                <a:spcPts val="2705"/>
              </a:lnSpc>
            </a:pPr>
            <a:r>
              <a:rPr sz="2400" b="1" spc="-10" dirty="0">
                <a:latin typeface="Times New Roman"/>
                <a:cs typeface="Times New Roman"/>
              </a:rPr>
              <a:t>SuperClassName.staticMethodName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"/>
                <a:cs typeface="Calibri"/>
              </a:rPr>
              <a:t>Method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37005"/>
            <a:ext cx="8073390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762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4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overloading</a:t>
            </a:r>
            <a:r>
              <a:rPr sz="24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2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multiple 	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parameters.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differ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number,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parameters.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flexibility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called,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 	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argument 	combinations.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0492" y="-105663"/>
            <a:ext cx="4305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"/>
                <a:cs typeface="Calibri"/>
              </a:rPr>
              <a:t>Method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Overloading</a:t>
            </a:r>
          </a:p>
        </p:txBody>
      </p:sp>
      <p:sp>
        <p:nvSpPr>
          <p:cNvPr id="3" name="object 3"/>
          <p:cNvSpPr/>
          <p:nvPr/>
        </p:nvSpPr>
        <p:spPr>
          <a:xfrm>
            <a:off x="686562" y="915161"/>
            <a:ext cx="7696200" cy="4953000"/>
          </a:xfrm>
          <a:custGeom>
            <a:avLst/>
            <a:gdLst/>
            <a:ahLst/>
            <a:cxnLst/>
            <a:rect l="l" t="t" r="r" b="b"/>
            <a:pathLst>
              <a:path w="7696200" h="4953000">
                <a:moveTo>
                  <a:pt x="0" y="4953000"/>
                </a:moveTo>
                <a:lnTo>
                  <a:pt x="7696200" y="4953000"/>
                </a:lnTo>
                <a:lnTo>
                  <a:pt x="7696200" y="0"/>
                </a:lnTo>
                <a:lnTo>
                  <a:pt x="0" y="0"/>
                </a:lnTo>
                <a:lnTo>
                  <a:pt x="0" y="4953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510032"/>
            <a:ext cx="5661025" cy="5074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30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MathArthimetic</a:t>
            </a:r>
            <a:r>
              <a:rPr sz="1800" spc="-50" dirty="0">
                <a:latin typeface="Calibri"/>
                <a:cs typeface="Calibri"/>
              </a:rPr>
              <a:t> {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add(int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a,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b)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b;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660400" marR="1468755" indent="-210820">
              <a:lnSpc>
                <a:spcPct val="100000"/>
              </a:lnSpc>
              <a:spcBef>
                <a:spcPts val="2155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double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add(double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a,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double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b)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b;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08330" marR="292735" indent="-1587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args)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MathArthimetic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MathArthimetic(); System.out.println(math.add(5,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10)); //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  <a:p>
            <a:pPr marL="6604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System.out.println(math.add(2.5,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3.7)); //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6.2</a:t>
            </a:r>
            <a:endParaRPr sz="1800">
              <a:latin typeface="Calibri"/>
              <a:cs typeface="Calibri"/>
            </a:endParaRPr>
          </a:p>
          <a:p>
            <a:pPr marL="45021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149" y="183845"/>
            <a:ext cx="5995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Overriding</a:t>
            </a:r>
            <a:r>
              <a:rPr spc="-125" dirty="0"/>
              <a:t> </a:t>
            </a:r>
            <a:r>
              <a:rPr dirty="0"/>
              <a:t>vs.</a:t>
            </a:r>
            <a:r>
              <a:rPr spc="-120" dirty="0"/>
              <a:t> </a:t>
            </a:r>
            <a:r>
              <a:rPr spc="-10" dirty="0"/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62252"/>
            <a:ext cx="8683625" cy="3636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Overloading</a:t>
            </a:r>
            <a:r>
              <a:rPr sz="3200" spc="170" dirty="0">
                <a:latin typeface="Times New Roman"/>
                <a:cs typeface="Times New Roman"/>
              </a:rPr>
              <a:t>  </a:t>
            </a:r>
            <a:r>
              <a:rPr sz="3200" i="1" dirty="0">
                <a:latin typeface="Times New Roman"/>
                <a:cs typeface="Times New Roman"/>
              </a:rPr>
              <a:t>means</a:t>
            </a:r>
            <a:r>
              <a:rPr sz="3200" i="1" spc="175" dirty="0">
                <a:latin typeface="Times New Roman"/>
                <a:cs typeface="Times New Roman"/>
              </a:rPr>
              <a:t>  </a:t>
            </a:r>
            <a:r>
              <a:rPr sz="3200" i="1" dirty="0">
                <a:latin typeface="Times New Roman"/>
                <a:cs typeface="Times New Roman"/>
              </a:rPr>
              <a:t>to</a:t>
            </a:r>
            <a:r>
              <a:rPr sz="3200" i="1" spc="165" dirty="0">
                <a:latin typeface="Times New Roman"/>
                <a:cs typeface="Times New Roman"/>
              </a:rPr>
              <a:t>  </a:t>
            </a:r>
            <a:r>
              <a:rPr sz="3200" i="1" dirty="0">
                <a:latin typeface="Times New Roman"/>
                <a:cs typeface="Times New Roman"/>
              </a:rPr>
              <a:t>define</a:t>
            </a:r>
            <a:r>
              <a:rPr sz="3200" i="1" spc="175" dirty="0">
                <a:latin typeface="Times New Roman"/>
                <a:cs typeface="Times New Roman"/>
              </a:rPr>
              <a:t>  </a:t>
            </a:r>
            <a:r>
              <a:rPr sz="3200" i="1" dirty="0">
                <a:latin typeface="Times New Roman"/>
                <a:cs typeface="Times New Roman"/>
              </a:rPr>
              <a:t>multiple</a:t>
            </a:r>
            <a:r>
              <a:rPr sz="3200" i="1" spc="175" dirty="0">
                <a:latin typeface="Times New Roman"/>
                <a:cs typeface="Times New Roman"/>
              </a:rPr>
              <a:t>  </a:t>
            </a:r>
            <a:r>
              <a:rPr sz="3200" i="1" spc="-10" dirty="0">
                <a:latin typeface="Times New Roman"/>
                <a:cs typeface="Times New Roman"/>
              </a:rPr>
              <a:t>methods 	</a:t>
            </a:r>
            <a:r>
              <a:rPr sz="3200" i="1" dirty="0">
                <a:latin typeface="Times New Roman"/>
                <a:cs typeface="Times New Roman"/>
              </a:rPr>
              <a:t>with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same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name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but</a:t>
            </a:r>
            <a:r>
              <a:rPr sz="3200" i="1" spc="-5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different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signatures.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Overriding</a:t>
            </a:r>
            <a:r>
              <a:rPr sz="3200" spc="400" dirty="0">
                <a:latin typeface="Times New Roman"/>
                <a:cs typeface="Times New Roman"/>
              </a:rPr>
              <a:t>    </a:t>
            </a:r>
            <a:r>
              <a:rPr sz="3200" i="1" dirty="0">
                <a:latin typeface="Times New Roman"/>
                <a:cs typeface="Times New Roman"/>
              </a:rPr>
              <a:t>means</a:t>
            </a:r>
            <a:r>
              <a:rPr sz="3200" i="1" spc="405" dirty="0">
                <a:latin typeface="Times New Roman"/>
                <a:cs typeface="Times New Roman"/>
              </a:rPr>
              <a:t>    </a:t>
            </a:r>
            <a:r>
              <a:rPr sz="3200" i="1" dirty="0">
                <a:latin typeface="Times New Roman"/>
                <a:cs typeface="Times New Roman"/>
              </a:rPr>
              <a:t>to</a:t>
            </a:r>
            <a:r>
              <a:rPr sz="3200" i="1" spc="400" dirty="0">
                <a:latin typeface="Times New Roman"/>
                <a:cs typeface="Times New Roman"/>
              </a:rPr>
              <a:t>    </a:t>
            </a:r>
            <a:r>
              <a:rPr sz="3200" i="1" dirty="0">
                <a:latin typeface="Times New Roman"/>
                <a:cs typeface="Times New Roman"/>
              </a:rPr>
              <a:t>provide</a:t>
            </a:r>
            <a:r>
              <a:rPr sz="3200" i="1" spc="405" dirty="0">
                <a:latin typeface="Times New Roman"/>
                <a:cs typeface="Times New Roman"/>
              </a:rPr>
              <a:t>   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405" dirty="0">
                <a:latin typeface="Times New Roman"/>
                <a:cs typeface="Times New Roman"/>
              </a:rPr>
              <a:t>    </a:t>
            </a:r>
            <a:r>
              <a:rPr sz="3200" i="1" spc="-25" dirty="0">
                <a:latin typeface="Times New Roman"/>
                <a:cs typeface="Times New Roman"/>
              </a:rPr>
              <a:t>new </a:t>
            </a:r>
            <a:r>
              <a:rPr sz="3200" i="1" dirty="0">
                <a:latin typeface="Times New Roman"/>
                <a:cs typeface="Times New Roman"/>
              </a:rPr>
              <a:t>implementation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for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method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in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5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subclass.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override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method,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must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defined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3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subclass</a:t>
            </a:r>
            <a:r>
              <a:rPr sz="3200" spc="5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5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3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32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signature</a:t>
            </a:r>
            <a:r>
              <a:rPr sz="3200" spc="5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525" dirty="0"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type.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149" y="209753"/>
            <a:ext cx="5995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Overriding</a:t>
            </a:r>
            <a:r>
              <a:rPr spc="-125" dirty="0"/>
              <a:t> </a:t>
            </a:r>
            <a:r>
              <a:rPr dirty="0"/>
              <a:t>vs.</a:t>
            </a:r>
            <a:r>
              <a:rPr spc="-120" dirty="0"/>
              <a:t> </a:t>
            </a:r>
            <a:r>
              <a:rPr spc="-10" dirty="0"/>
              <a:t>Overloading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358" y="1155864"/>
            <a:ext cx="8656004" cy="43938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Overriding</a:t>
            </a:r>
            <a:r>
              <a:rPr spc="-125" dirty="0"/>
              <a:t> </a:t>
            </a:r>
            <a:r>
              <a:rPr dirty="0"/>
              <a:t>vs.</a:t>
            </a:r>
            <a:r>
              <a:rPr spc="-120" dirty="0"/>
              <a:t> </a:t>
            </a:r>
            <a:r>
              <a:rPr spc="-10" dirty="0"/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57757"/>
            <a:ext cx="8683625" cy="4112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run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Test</a:t>
            </a:r>
            <a:r>
              <a:rPr sz="3200" b="1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(a),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both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a.p(10)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a.p(10.0)</a:t>
            </a:r>
            <a:r>
              <a:rPr sz="3200" b="1" spc="2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invoke</a:t>
            </a:r>
            <a:r>
              <a:rPr sz="3200" spc="2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p(double</a:t>
            </a:r>
            <a:r>
              <a:rPr sz="3200" b="1" spc="24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i)</a:t>
            </a:r>
            <a:r>
              <a:rPr sz="3200" b="1" spc="245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method 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display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10.0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93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2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run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0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Test</a:t>
            </a:r>
            <a:r>
              <a:rPr sz="3200" b="1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(b),</a:t>
            </a:r>
            <a:r>
              <a:rPr sz="3200" spc="195" dirty="0">
                <a:latin typeface="Times New Roman"/>
                <a:cs typeface="Times New Roman"/>
              </a:rPr>
              <a:t>  </a:t>
            </a:r>
            <a:r>
              <a:rPr sz="3200" b="1" spc="-10" dirty="0">
                <a:latin typeface="Times New Roman"/>
                <a:cs typeface="Times New Roman"/>
              </a:rPr>
              <a:t>a.p(10) </a:t>
            </a:r>
            <a:r>
              <a:rPr sz="3200" dirty="0">
                <a:latin typeface="Times New Roman"/>
                <a:cs typeface="Times New Roman"/>
              </a:rPr>
              <a:t>invokes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p(int</a:t>
            </a:r>
            <a:r>
              <a:rPr sz="3200" b="1" spc="3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i)</a:t>
            </a:r>
            <a:r>
              <a:rPr sz="3200" b="1" spc="3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3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1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display</a:t>
            </a:r>
            <a:r>
              <a:rPr sz="3200" spc="2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10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a.p(10.0)</a:t>
            </a:r>
            <a:r>
              <a:rPr sz="3200" b="1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invokes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p(double</a:t>
            </a:r>
            <a:r>
              <a:rPr sz="3200" b="1" spc="27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i)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display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20.0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Overriding</a:t>
            </a:r>
            <a:r>
              <a:rPr spc="-125" dirty="0"/>
              <a:t> </a:t>
            </a:r>
            <a:r>
              <a:rPr dirty="0"/>
              <a:t>vs.</a:t>
            </a:r>
            <a:r>
              <a:rPr spc="-120" dirty="0"/>
              <a:t> </a:t>
            </a:r>
            <a:r>
              <a:rPr spc="-10" dirty="0"/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10875"/>
            <a:ext cx="8683625" cy="522351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Times New Roman"/>
                <a:cs typeface="Times New Roman"/>
              </a:rPr>
              <a:t>Note:</a:t>
            </a:r>
            <a:endParaRPr sz="32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Overridden</a:t>
            </a:r>
            <a:r>
              <a:rPr sz="2800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8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8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sz="28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by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r>
              <a:rPr sz="2800" dirty="0">
                <a:latin typeface="Times New Roman"/>
                <a:cs typeface="Times New Roman"/>
              </a:rPr>
              <a:t>;</a:t>
            </a:r>
            <a:r>
              <a:rPr sz="2800" spc="52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overloaded</a:t>
            </a:r>
            <a:r>
              <a:rPr sz="2800" spc="5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8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5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either</a:t>
            </a:r>
            <a:r>
              <a:rPr sz="2800" spc="5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inheritance.</a:t>
            </a:r>
            <a:endParaRPr sz="2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485"/>
              </a:spcBef>
              <a:buFont typeface="Arial MT"/>
              <a:buChar char="–"/>
            </a:pPr>
            <a:endParaRPr sz="2800">
              <a:latin typeface="Times New Roman"/>
              <a:cs typeface="Times New Roman"/>
            </a:endParaRPr>
          </a:p>
          <a:p>
            <a:pPr marL="756285" marR="7620" lvl="1" indent="-287020" algn="just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Overridden</a:t>
            </a:r>
            <a:r>
              <a:rPr sz="2800" spc="229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800" spc="22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2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800" spc="229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signature</a:t>
            </a:r>
            <a:r>
              <a:rPr sz="2800" spc="22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sz="2800" spc="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800" dirty="0">
                <a:latin typeface="Times New Roman"/>
                <a:cs typeface="Times New Roman"/>
              </a:rPr>
              <a:t>;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overloaded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8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name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8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parameter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list.</a:t>
            </a:r>
            <a:endParaRPr sz="28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avoid</a:t>
            </a:r>
            <a:r>
              <a:rPr sz="28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mistakes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special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syntax, 	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override</a:t>
            </a:r>
            <a:r>
              <a:rPr sz="2800" i="1" spc="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annotation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place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@Override</a:t>
            </a:r>
            <a:r>
              <a:rPr sz="28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before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subclass.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68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57941"/>
            <a:ext cx="8218805" cy="45256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55"/>
              </a:spcBef>
            </a:pPr>
            <a:r>
              <a:rPr sz="2400" b="1" dirty="0">
                <a:latin typeface="Courier New"/>
                <a:cs typeface="Courier New"/>
              </a:rPr>
              <a:t>public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class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Circle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extends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GeometricObject</a:t>
            </a:r>
            <a:endParaRPr sz="24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515"/>
              </a:spcBef>
            </a:pPr>
            <a:r>
              <a:rPr sz="2400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//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methods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omitted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@Override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public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String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toString()</a:t>
            </a:r>
            <a:endParaRPr sz="24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575"/>
              </a:spcBef>
            </a:pPr>
            <a:r>
              <a:rPr sz="2400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return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super</a:t>
            </a:r>
            <a:r>
              <a:rPr sz="2400" dirty="0">
                <a:latin typeface="Courier New"/>
                <a:cs typeface="Courier New"/>
              </a:rPr>
              <a:t>.toString()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"\nradius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+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ourier New"/>
                <a:cs typeface="Courier New"/>
              </a:rPr>
              <a:t>radius;</a:t>
            </a:r>
            <a:endParaRPr sz="2400">
              <a:latin typeface="Courier New"/>
              <a:cs typeface="Courier New"/>
            </a:endParaRPr>
          </a:p>
          <a:p>
            <a:pPr marL="538480">
              <a:lnSpc>
                <a:spcPct val="10000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864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super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/>
              <a:t>Keyword</a:t>
            </a:r>
            <a:r>
              <a:rPr spc="-100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spc="-20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35481"/>
            <a:ext cx="8072120" cy="378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6350" indent="-34163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6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6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super</a:t>
            </a:r>
            <a:r>
              <a:rPr sz="2800" spc="5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keyword</a:t>
            </a:r>
            <a:r>
              <a:rPr sz="2800" spc="6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superclass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class.</a:t>
            </a:r>
            <a:endParaRPr sz="2800">
              <a:latin typeface="Times New Roman"/>
              <a:cs typeface="Times New Roman"/>
            </a:endParaRPr>
          </a:p>
          <a:p>
            <a:pPr marL="354330" marR="5080" indent="-34163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primarily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800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28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members</a:t>
            </a:r>
            <a:r>
              <a:rPr sz="2800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(variables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	</a:t>
            </a:r>
            <a:r>
              <a:rPr sz="2800" dirty="0">
                <a:latin typeface="Times New Roman"/>
                <a:cs typeface="Times New Roman"/>
              </a:rPr>
              <a:t>methods)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superclass,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hidden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	</a:t>
            </a:r>
            <a:r>
              <a:rPr sz="2800" dirty="0">
                <a:latin typeface="Times New Roman"/>
                <a:cs typeface="Times New Roman"/>
              </a:rPr>
              <a:t>overridden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subclass.</a:t>
            </a:r>
            <a:endParaRPr sz="2800">
              <a:latin typeface="Times New Roman"/>
              <a:cs typeface="Times New Roman"/>
            </a:endParaRPr>
          </a:p>
          <a:p>
            <a:pPr marL="354330" indent="-34163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468630" indent="-455930" algn="just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68630" algn="l"/>
              </a:tabLst>
            </a:pPr>
            <a:r>
              <a:rPr sz="2800" dirty="0">
                <a:latin typeface="Times New Roman"/>
                <a:cs typeface="Times New Roman"/>
              </a:rPr>
              <a:t>Accessing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superclass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members.</a:t>
            </a:r>
            <a:endParaRPr sz="2800">
              <a:latin typeface="Times New Roman"/>
              <a:cs typeface="Times New Roman"/>
            </a:endParaRPr>
          </a:p>
          <a:p>
            <a:pPr marL="469265" indent="-456565" algn="just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Invoking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superclass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constructors.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614" y="-118160"/>
            <a:ext cx="16052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330454"/>
            <a:ext cx="8607425" cy="23082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27685" indent="-514984" algn="just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latin typeface="Times New Roman"/>
                <a:cs typeface="Times New Roman"/>
              </a:rPr>
              <a:t>Accessing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superclass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members.</a:t>
            </a:r>
            <a:endParaRPr sz="2400">
              <a:latin typeface="Times New Roman"/>
              <a:cs typeface="Times New Roman"/>
            </a:endParaRPr>
          </a:p>
          <a:p>
            <a:pPr marL="355600" marR="5080" lvl="1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426720" algn="l"/>
              </a:tabLst>
            </a:pPr>
            <a:r>
              <a:rPr sz="2400" dirty="0">
                <a:latin typeface="Times New Roman"/>
                <a:cs typeface="Times New Roman"/>
              </a:rPr>
              <a:t>	When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overrides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hides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its </a:t>
            </a:r>
            <a:r>
              <a:rPr sz="2400" dirty="0">
                <a:latin typeface="Times New Roman"/>
                <a:cs typeface="Times New Roman"/>
              </a:rPr>
              <a:t>superclass,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super</a:t>
            </a:r>
            <a:r>
              <a:rPr sz="2400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keyword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hidden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overridden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superclass.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syntax: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super.method(parameters);</a:t>
            </a:r>
            <a:endParaRPr sz="2000">
              <a:latin typeface="Times New Roman"/>
              <a:cs typeface="Times New Roman"/>
            </a:endParaRPr>
          </a:p>
          <a:p>
            <a:pPr marL="355600" marR="6985" lvl="1" indent="-342900" algn="just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355600" algn="l"/>
                <a:tab pos="419100" algn="l"/>
              </a:tabLst>
            </a:pPr>
            <a:r>
              <a:rPr sz="2000" dirty="0">
                <a:latin typeface="Times New Roman"/>
                <a:cs typeface="Times New Roman"/>
              </a:rPr>
              <a:t>	It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especially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invoke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superclass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implementation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overridden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9657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218" y="2696717"/>
            <a:ext cx="4191000" cy="40538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800"/>
              </a:lnSpc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String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sound()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092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"Animal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sound";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class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Dog</a:t>
            </a:r>
            <a:r>
              <a:rPr sz="1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extends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String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sound()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092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"Dog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barking";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416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superSound()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092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super</a:t>
            </a:r>
            <a:r>
              <a:rPr sz="1800" spc="-10" dirty="0">
                <a:latin typeface="Calibri"/>
                <a:cs typeface="Calibri"/>
              </a:rPr>
              <a:t>.sound();</a:t>
            </a:r>
            <a:endParaRPr sz="1800">
              <a:latin typeface="Calibri"/>
              <a:cs typeface="Calibri"/>
            </a:endParaRPr>
          </a:p>
          <a:p>
            <a:pPr marL="1416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superclass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97146" y="2696717"/>
            <a:ext cx="4191000" cy="4053840"/>
          </a:xfrm>
          <a:custGeom>
            <a:avLst/>
            <a:gdLst/>
            <a:ahLst/>
            <a:cxnLst/>
            <a:rect l="l" t="t" r="r" b="b"/>
            <a:pathLst>
              <a:path w="4191000" h="4053840">
                <a:moveTo>
                  <a:pt x="4191000" y="0"/>
                </a:moveTo>
                <a:lnTo>
                  <a:pt x="0" y="0"/>
                </a:lnTo>
                <a:lnTo>
                  <a:pt x="0" y="4053840"/>
                </a:lnTo>
                <a:lnTo>
                  <a:pt x="4191000" y="4053840"/>
                </a:lnTo>
                <a:lnTo>
                  <a:pt x="419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7146" y="2696717"/>
            <a:ext cx="4191000" cy="40538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1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args)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90805" marR="106426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Dog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dog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Dog(); </a:t>
            </a:r>
            <a:r>
              <a:rPr sz="1800" spc="-10" dirty="0">
                <a:latin typeface="Calibri"/>
                <a:cs typeface="Calibri"/>
              </a:rPr>
              <a:t>System.out.println(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dog.sound()</a:t>
            </a:r>
            <a:r>
              <a:rPr sz="1800" spc="-10" dirty="0">
                <a:latin typeface="Calibri"/>
                <a:cs typeface="Calibri"/>
              </a:rPr>
              <a:t>);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barking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System.out.println(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dog.superSound()</a:t>
            </a:r>
            <a:r>
              <a:rPr sz="1800" spc="-10" dirty="0">
                <a:latin typeface="Calibri"/>
                <a:cs typeface="Calibri"/>
              </a:rPr>
              <a:t>);</a:t>
            </a:r>
            <a:endParaRPr sz="18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sound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8517" y="4255261"/>
            <a:ext cx="186944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614" y="-118160"/>
            <a:ext cx="16052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330454"/>
            <a:ext cx="8607425" cy="24403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17500" indent="-304800" algn="just">
              <a:lnSpc>
                <a:spcPct val="100000"/>
              </a:lnSpc>
              <a:spcBef>
                <a:spcPts val="675"/>
              </a:spcBef>
              <a:buAutoNum type="arabicPeriod" startAt="2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Invoking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superclass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constructors.</a:t>
            </a:r>
            <a:endParaRPr sz="2400">
              <a:latin typeface="Times New Roman"/>
              <a:cs typeface="Times New Roman"/>
            </a:endParaRPr>
          </a:p>
          <a:p>
            <a:pPr marL="355600" marR="5080" lvl="1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507365" algn="l"/>
              </a:tabLst>
            </a:pPr>
            <a:r>
              <a:rPr sz="2400" dirty="0">
                <a:latin typeface="Times New Roman"/>
                <a:cs typeface="Times New Roman"/>
              </a:rPr>
              <a:t>	In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constructor,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super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keyword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invoke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superclass.</a:t>
            </a:r>
            <a:endParaRPr sz="2400">
              <a:latin typeface="Times New Roman"/>
              <a:cs typeface="Times New Roman"/>
            </a:endParaRPr>
          </a:p>
          <a:p>
            <a:pPr marL="355600" marR="5715" lvl="1" indent="-342900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  <a:tab pos="424815" algn="l"/>
              </a:tabLst>
            </a:pPr>
            <a:r>
              <a:rPr sz="2400" dirty="0">
                <a:latin typeface="Times New Roman"/>
                <a:cs typeface="Times New Roman"/>
              </a:rPr>
              <a:t>	This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want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reuse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initialization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superclass.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super()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call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constructor.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9657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9361" y="2804921"/>
            <a:ext cx="4191000" cy="4053840"/>
          </a:xfrm>
          <a:custGeom>
            <a:avLst/>
            <a:gdLst/>
            <a:ahLst/>
            <a:cxnLst/>
            <a:rect l="l" t="t" r="r" b="b"/>
            <a:pathLst>
              <a:path w="4191000" h="4053840">
                <a:moveTo>
                  <a:pt x="0" y="4053840"/>
                </a:moveTo>
                <a:lnTo>
                  <a:pt x="4191000" y="4053840"/>
                </a:lnTo>
                <a:lnTo>
                  <a:pt x="4191000" y="0"/>
                </a:lnTo>
                <a:lnTo>
                  <a:pt x="0" y="0"/>
                </a:lnTo>
                <a:lnTo>
                  <a:pt x="0" y="405384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40" y="3020695"/>
            <a:ext cx="3213735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1861185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Vehicle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color;</a:t>
            </a:r>
            <a:endParaRPr sz="1800">
              <a:latin typeface="Calibri"/>
              <a:cs typeface="Calibri"/>
            </a:endParaRPr>
          </a:p>
          <a:p>
            <a:pPr marL="431800" marR="955040" indent="-21082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Vehicle(String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color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this.color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color;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  <a:p>
            <a:pPr marL="220979" marR="766445" indent="-2089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extends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Vehicle</a:t>
            </a:r>
            <a:r>
              <a:rPr sz="1800" spc="-50" dirty="0">
                <a:latin typeface="Calibri"/>
                <a:cs typeface="Calibri"/>
              </a:rPr>
              <a:t> {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speed;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Car(String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color,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speed)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super(color);</a:t>
            </a:r>
            <a:endParaRPr sz="1800">
              <a:latin typeface="Calibri"/>
              <a:cs typeface="Calibri"/>
            </a:endParaRPr>
          </a:p>
          <a:p>
            <a:pPr marL="431800" marR="5080" indent="-3676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invoking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superclass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constructor </a:t>
            </a:r>
            <a:r>
              <a:rPr sz="1800" dirty="0">
                <a:latin typeface="Calibri"/>
                <a:cs typeface="Calibri"/>
              </a:rPr>
              <a:t>this.speed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speed;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9873" y="2792221"/>
            <a:ext cx="4216400" cy="4079240"/>
            <a:chOff x="4579873" y="2792221"/>
            <a:chExt cx="4216400" cy="4079240"/>
          </a:xfrm>
        </p:grpSpPr>
        <p:sp>
          <p:nvSpPr>
            <p:cNvPr id="8" name="object 8"/>
            <p:cNvSpPr/>
            <p:nvPr/>
          </p:nvSpPr>
          <p:spPr>
            <a:xfrm>
              <a:off x="4592573" y="2804921"/>
              <a:ext cx="4191000" cy="4053840"/>
            </a:xfrm>
            <a:custGeom>
              <a:avLst/>
              <a:gdLst/>
              <a:ahLst/>
              <a:cxnLst/>
              <a:rect l="l" t="t" r="r" b="b"/>
              <a:pathLst>
                <a:path w="4191000" h="4053840">
                  <a:moveTo>
                    <a:pt x="4191000" y="0"/>
                  </a:moveTo>
                  <a:lnTo>
                    <a:pt x="0" y="0"/>
                  </a:lnTo>
                  <a:lnTo>
                    <a:pt x="0" y="4053840"/>
                  </a:lnTo>
                  <a:lnTo>
                    <a:pt x="4191000" y="405384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92573" y="2804921"/>
              <a:ext cx="4191000" cy="4053840"/>
            </a:xfrm>
            <a:custGeom>
              <a:avLst/>
              <a:gdLst/>
              <a:ahLst/>
              <a:cxnLst/>
              <a:rect l="l" t="t" r="r" b="b"/>
              <a:pathLst>
                <a:path w="4191000" h="4053840">
                  <a:moveTo>
                    <a:pt x="0" y="4053840"/>
                  </a:moveTo>
                  <a:lnTo>
                    <a:pt x="4191000" y="4053840"/>
                  </a:lnTo>
                  <a:lnTo>
                    <a:pt x="4191000" y="0"/>
                  </a:lnTo>
                  <a:lnTo>
                    <a:pt x="0" y="0"/>
                  </a:lnTo>
                  <a:lnTo>
                    <a:pt x="0" y="405384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70552" y="3020695"/>
            <a:ext cx="335724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args)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 marR="51435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Car("Red",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100); </a:t>
            </a:r>
            <a:r>
              <a:rPr sz="1800" spc="-10" dirty="0">
                <a:latin typeface="Calibri"/>
                <a:cs typeface="Calibri"/>
              </a:rPr>
              <a:t>System.out.println(car.color);</a:t>
            </a:r>
            <a:endParaRPr sz="1800">
              <a:latin typeface="Calibri"/>
              <a:cs typeface="Calibri"/>
            </a:endParaRPr>
          </a:p>
          <a:p>
            <a:pPr marL="12700" marR="54737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//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Output: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sz="1800" spc="-20" dirty="0">
                <a:latin typeface="Calibri"/>
                <a:cs typeface="Calibri"/>
              </a:rPr>
              <a:t>System.out.println(car.speed);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//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Output: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1800" spc="-2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95397"/>
            <a:ext cx="84582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US" sz="4400" spc="-10" dirty="0">
                <a:solidFill>
                  <a:srgbClr val="001F5F"/>
                </a:solidFill>
                <a:highlight>
                  <a:srgbClr val="FFFF00"/>
                </a:highlight>
              </a:rPr>
              <a:t>Chapter 4</a:t>
            </a:r>
            <a:br>
              <a:rPr lang="en-US" sz="4400" spc="-10" dirty="0">
                <a:solidFill>
                  <a:srgbClr val="001F5F"/>
                </a:solidFill>
                <a:highlight>
                  <a:srgbClr val="FFFF00"/>
                </a:highlight>
              </a:rPr>
            </a:br>
            <a:r>
              <a:rPr sz="3600" spc="-10" dirty="0">
                <a:solidFill>
                  <a:srgbClr val="001F5F"/>
                </a:solidFill>
                <a:highlight>
                  <a:srgbClr val="FFFF00"/>
                </a:highlight>
              </a:rPr>
              <a:t>Polymorphism</a:t>
            </a:r>
            <a:r>
              <a:rPr lang="en-US" sz="3600" spc="-10" dirty="0">
                <a:solidFill>
                  <a:srgbClr val="001F5F"/>
                </a:solidFill>
                <a:highlight>
                  <a:srgbClr val="FFFF00"/>
                </a:highlight>
              </a:rPr>
              <a:t> abstract class and interface</a:t>
            </a:r>
            <a:endParaRPr sz="3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87884"/>
            <a:ext cx="3212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Polymorphism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187" y="762000"/>
            <a:ext cx="8683625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Polymorphism</a:t>
            </a:r>
            <a:r>
              <a:rPr sz="2400" spc="31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feature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object-oriented 	</a:t>
            </a:r>
            <a:r>
              <a:rPr sz="2400" dirty="0">
                <a:latin typeface="Times New Roman"/>
                <a:cs typeface="Times New Roman"/>
              </a:rPr>
              <a:t>programming,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ability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	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forms.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  <a:tab pos="429259" algn="l"/>
              </a:tabLst>
            </a:pPr>
            <a:r>
              <a:rPr sz="2400" dirty="0">
                <a:latin typeface="Times New Roman"/>
                <a:cs typeface="Times New Roman"/>
              </a:rPr>
              <a:t>	In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Java,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polymorphism</a:t>
            </a:r>
            <a:r>
              <a:rPr sz="2400" b="1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treated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superclass</a:t>
            </a:r>
            <a:r>
              <a:rPr sz="2400" spc="2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flexible </a:t>
            </a:r>
            <a:r>
              <a:rPr sz="2400" dirty="0">
                <a:latin typeface="Times New Roman"/>
                <a:cs typeface="Times New Roman"/>
              </a:rPr>
              <a:t>and reusable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code.</a:t>
            </a:r>
            <a:endParaRPr sz="2400" dirty="0">
              <a:latin typeface="Times New Roman"/>
              <a:cs typeface="Times New Roman"/>
            </a:endParaRP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Generally,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Polymorphism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means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that</a:t>
            </a:r>
            <a:r>
              <a:rPr sz="2400" i="1" spc="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r>
              <a:rPr sz="2400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supertype</a:t>
            </a:r>
            <a:r>
              <a:rPr sz="240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can 	</a:t>
            </a:r>
            <a:r>
              <a:rPr sz="2400" i="1" dirty="0">
                <a:latin typeface="Times New Roman"/>
                <a:cs typeface="Times New Roman"/>
              </a:rPr>
              <a:t>refer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subtype</a:t>
            </a:r>
            <a:r>
              <a:rPr sz="24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object.</a:t>
            </a:r>
            <a:endParaRPr sz="2400" dirty="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Polymorphism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"many</a:t>
            </a:r>
            <a:r>
              <a:rPr sz="2400" spc="2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forms",</a:t>
            </a:r>
            <a:r>
              <a:rPr sz="2400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have</a:t>
            </a:r>
            <a:endParaRPr sz="240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inheritance.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87884"/>
            <a:ext cx="3212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Polymorphism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11831"/>
            <a:ext cx="8682990" cy="49276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main types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polymorphism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Java: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compile-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polymorphism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 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 </a:t>
            </a:r>
            <a:r>
              <a:rPr sz="2400" spc="-10" dirty="0">
                <a:latin typeface="Times New Roman"/>
                <a:cs typeface="Times New Roman"/>
              </a:rPr>
              <a:t>overloading)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runtime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polymorphism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(also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overriding).</a:t>
            </a:r>
            <a:endParaRPr sz="2400">
              <a:latin typeface="Times New Roman"/>
              <a:cs typeface="Times New Roman"/>
            </a:endParaRPr>
          </a:p>
          <a:p>
            <a:pPr marL="191770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Times New Roman"/>
                <a:cs typeface="Times New Roman"/>
              </a:rPr>
              <a:t>Compile-</a:t>
            </a: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polymorphism</a:t>
            </a:r>
            <a:endParaRPr sz="24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but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355600" marR="5080" lvl="1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424815" algn="l"/>
              </a:tabLst>
            </a:pP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determined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compiler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  <a:p>
            <a:pPr marL="355600" marR="5080" lvl="1" indent="-342900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Method overloading allows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to define multiple methods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 but perform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convenient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inputs.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-58188"/>
            <a:ext cx="5143500" cy="123444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45"/>
              </a:spcBef>
            </a:pPr>
            <a:r>
              <a:rPr spc="-10" dirty="0"/>
              <a:t>Cont…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dirty="0"/>
              <a:t>Example:</a:t>
            </a:r>
            <a:r>
              <a:rPr sz="2400" spc="35" dirty="0"/>
              <a:t> </a:t>
            </a:r>
            <a:r>
              <a:rPr sz="2400" spc="-10" dirty="0"/>
              <a:t>Compile-</a:t>
            </a:r>
            <a:r>
              <a:rPr sz="2400" dirty="0"/>
              <a:t>time </a:t>
            </a:r>
            <a:r>
              <a:rPr sz="2400" spc="-10" dirty="0"/>
              <a:t>polymorphism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81761" y="1296161"/>
            <a:ext cx="8229600" cy="5181600"/>
          </a:xfrm>
          <a:custGeom>
            <a:avLst/>
            <a:gdLst/>
            <a:ahLst/>
            <a:cxnLst/>
            <a:rect l="l" t="t" r="r" b="b"/>
            <a:pathLst>
              <a:path w="8229600" h="5181600">
                <a:moveTo>
                  <a:pt x="0" y="5181600"/>
                </a:moveTo>
                <a:lnTo>
                  <a:pt x="8229600" y="5181600"/>
                </a:lnTo>
                <a:lnTo>
                  <a:pt x="8229600" y="0"/>
                </a:lnTo>
                <a:lnTo>
                  <a:pt x="0" y="0"/>
                </a:lnTo>
                <a:lnTo>
                  <a:pt x="0" y="5181600"/>
                </a:lnTo>
                <a:close/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526489"/>
            <a:ext cx="3837940" cy="4690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Calculator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31800" marR="1083945" indent="-21082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public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add(int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a,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b)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{ </a:t>
            </a:r>
            <a:r>
              <a:rPr sz="1800" b="1" dirty="0">
                <a:latin typeface="Calibri"/>
                <a:cs typeface="Calibri"/>
              </a:rPr>
              <a:t>return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 +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double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add(double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a,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double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 +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b;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Usage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Calculator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calculator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Calculator();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result1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calculator.add(2,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3);</a:t>
            </a:r>
            <a:endParaRPr sz="1800">
              <a:latin typeface="Calibri"/>
              <a:cs typeface="Calibri"/>
            </a:endParaRPr>
          </a:p>
          <a:p>
            <a:pPr marL="12700" marR="68580" indent="2616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add()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double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result2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calculator.add(2.5,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3.7);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add()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942" y="87884"/>
            <a:ext cx="3212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Polymorphism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11831"/>
            <a:ext cx="8683625" cy="40493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070100" algn="just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latin typeface="Times New Roman"/>
                <a:cs typeface="Times New Roman"/>
              </a:rPr>
              <a:t>Runtime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polymorphism</a:t>
            </a:r>
            <a:endParaRPr sz="2400">
              <a:latin typeface="Times New Roman"/>
              <a:cs typeface="Times New Roman"/>
            </a:endParaRPr>
          </a:p>
          <a:p>
            <a:pPr marL="431165" indent="-418465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400" spc="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24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already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name,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type,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superclass.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  <a:tab pos="424815" algn="l"/>
              </a:tabLst>
            </a:pP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runtime,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actual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	Runtime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polymorphism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override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provide </a:t>
            </a:r>
            <a:r>
              <a:rPr sz="2400" dirty="0">
                <a:latin typeface="Times New Roman"/>
                <a:cs typeface="Times New Roman"/>
              </a:rPr>
              <a:t>specialized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subclasses,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still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maintaining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10" dirty="0">
                <a:latin typeface="Times New Roman"/>
                <a:cs typeface="Times New Roman"/>
              </a:rPr>
              <a:t> interface.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614" y="87884"/>
            <a:ext cx="1604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84605"/>
            <a:ext cx="4466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Runtime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polymorphism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305" y="1287017"/>
            <a:ext cx="4800600" cy="5181600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914"/>
              </a:lnSpc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sound()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4224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System.out.println("Animal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making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sound");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99720" marR="2300605" indent="-20955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extends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509905" marR="1593850" indent="-2108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sound()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System.out.println("Meow");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99720" marR="2237105" indent="-20955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509905" marR="1680210" indent="-2108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sound()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{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System.out.println("Woof");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ts val="2155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6161" y="1287017"/>
            <a:ext cx="4037965" cy="5181600"/>
          </a:xfrm>
          <a:custGeom>
            <a:avLst/>
            <a:gdLst/>
            <a:ahLst/>
            <a:cxnLst/>
            <a:rect l="l" t="t" r="r" b="b"/>
            <a:pathLst>
              <a:path w="4037965" h="5181600">
                <a:moveTo>
                  <a:pt x="0" y="5181600"/>
                </a:moveTo>
                <a:lnTo>
                  <a:pt x="4037837" y="5181600"/>
                </a:lnTo>
              </a:path>
              <a:path w="4037965" h="5181600">
                <a:moveTo>
                  <a:pt x="4037837" y="0"/>
                </a:moveTo>
                <a:lnTo>
                  <a:pt x="0" y="0"/>
                </a:lnTo>
                <a:lnTo>
                  <a:pt x="0" y="5181600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Public</a:t>
            </a:r>
            <a:r>
              <a:rPr spc="-30" dirty="0"/>
              <a:t> </a:t>
            </a:r>
            <a:r>
              <a:rPr dirty="0"/>
              <a:t>class</a:t>
            </a:r>
            <a:r>
              <a:rPr spc="-35" dirty="0"/>
              <a:t> </a:t>
            </a:r>
            <a:r>
              <a:rPr spc="-20" dirty="0"/>
              <a:t>Main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{</a:t>
            </a:r>
          </a:p>
          <a:p>
            <a:pPr marL="12700">
              <a:lnSpc>
                <a:spcPct val="100000"/>
              </a:lnSpc>
            </a:pPr>
            <a:r>
              <a:rPr dirty="0"/>
              <a:t>Public</a:t>
            </a:r>
            <a:r>
              <a:rPr spc="-55" dirty="0"/>
              <a:t> </a:t>
            </a:r>
            <a:r>
              <a:rPr dirty="0"/>
              <a:t>static</a:t>
            </a:r>
            <a:r>
              <a:rPr spc="-60" dirty="0"/>
              <a:t> </a:t>
            </a:r>
            <a:r>
              <a:rPr dirty="0"/>
              <a:t>void</a:t>
            </a:r>
            <a:r>
              <a:rPr spc="-65" dirty="0"/>
              <a:t> </a:t>
            </a:r>
            <a:r>
              <a:rPr dirty="0"/>
              <a:t>main(String[]</a:t>
            </a:r>
            <a:r>
              <a:rPr spc="-50" dirty="0"/>
              <a:t> </a:t>
            </a:r>
            <a:r>
              <a:rPr spc="-10" dirty="0"/>
              <a:t>args)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{</a:t>
            </a:r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animal1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= new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Cat();</a:t>
            </a:r>
          </a:p>
          <a:p>
            <a:pPr marL="64135">
              <a:lnSpc>
                <a:spcPct val="100000"/>
              </a:lnSpc>
            </a:pPr>
            <a:r>
              <a:rPr dirty="0"/>
              <a:t>//</a:t>
            </a:r>
            <a:r>
              <a:rPr spc="-25" dirty="0"/>
              <a:t> </a:t>
            </a:r>
            <a:r>
              <a:rPr dirty="0"/>
              <a:t>Cat</a:t>
            </a:r>
            <a:r>
              <a:rPr spc="-40" dirty="0"/>
              <a:t> </a:t>
            </a:r>
            <a:r>
              <a:rPr dirty="0"/>
              <a:t>object</a:t>
            </a:r>
            <a:r>
              <a:rPr spc="-30" dirty="0"/>
              <a:t> </a:t>
            </a:r>
            <a:r>
              <a:rPr dirty="0"/>
              <a:t>assigned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Animal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reference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animal2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= new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Dog();</a:t>
            </a:r>
          </a:p>
          <a:p>
            <a:pPr marL="12700" marR="687070" indent="51435">
              <a:lnSpc>
                <a:spcPct val="100000"/>
              </a:lnSpc>
            </a:pPr>
            <a:r>
              <a:rPr dirty="0"/>
              <a:t>//</a:t>
            </a:r>
            <a:r>
              <a:rPr spc="-25" dirty="0"/>
              <a:t> </a:t>
            </a:r>
            <a:r>
              <a:rPr dirty="0"/>
              <a:t>Dog</a:t>
            </a:r>
            <a:r>
              <a:rPr spc="-25" dirty="0"/>
              <a:t> </a:t>
            </a:r>
            <a:r>
              <a:rPr dirty="0"/>
              <a:t>object</a:t>
            </a:r>
            <a:r>
              <a:rPr spc="-30" dirty="0"/>
              <a:t> </a:t>
            </a:r>
            <a:r>
              <a:rPr dirty="0"/>
              <a:t>assigned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10" dirty="0"/>
              <a:t>Animal reference</a:t>
            </a:r>
          </a:p>
          <a:p>
            <a:pPr marL="12700">
              <a:lnSpc>
                <a:spcPct val="100000"/>
              </a:lnSpc>
            </a:pP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animal1.sound();</a:t>
            </a:r>
          </a:p>
          <a:p>
            <a:pPr marL="12700">
              <a:lnSpc>
                <a:spcPct val="100000"/>
              </a:lnSpc>
            </a:pPr>
            <a:r>
              <a:rPr dirty="0"/>
              <a:t>//</a:t>
            </a:r>
            <a:r>
              <a:rPr spc="-30" dirty="0"/>
              <a:t> </a:t>
            </a:r>
            <a:r>
              <a:rPr dirty="0"/>
              <a:t>Calls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sound()</a:t>
            </a:r>
            <a:r>
              <a:rPr spc="-30" dirty="0"/>
              <a:t> </a:t>
            </a:r>
            <a:r>
              <a:rPr dirty="0"/>
              <a:t>method</a:t>
            </a:r>
            <a:r>
              <a:rPr spc="-2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Cat</a:t>
            </a:r>
            <a:r>
              <a:rPr spc="-35" dirty="0"/>
              <a:t> </a:t>
            </a:r>
            <a:r>
              <a:rPr spc="-10" dirty="0"/>
              <a:t>class</a:t>
            </a:r>
          </a:p>
          <a:p>
            <a:pPr marL="12700">
              <a:lnSpc>
                <a:spcPct val="100000"/>
              </a:lnSpc>
            </a:pP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animal2.sound();</a:t>
            </a:r>
          </a:p>
          <a:p>
            <a:pPr marL="64135">
              <a:lnSpc>
                <a:spcPct val="100000"/>
              </a:lnSpc>
            </a:pPr>
            <a:r>
              <a:rPr dirty="0"/>
              <a:t>//</a:t>
            </a:r>
            <a:r>
              <a:rPr spc="-30" dirty="0"/>
              <a:t> </a:t>
            </a:r>
            <a:r>
              <a:rPr dirty="0"/>
              <a:t>Calls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sound()</a:t>
            </a:r>
            <a:r>
              <a:rPr spc="-20" dirty="0"/>
              <a:t> </a:t>
            </a:r>
            <a:r>
              <a:rPr dirty="0"/>
              <a:t>method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Dog</a:t>
            </a:r>
            <a:r>
              <a:rPr spc="-30" dirty="0"/>
              <a:t> </a:t>
            </a:r>
            <a:r>
              <a:rPr spc="-10" dirty="0"/>
              <a:t>class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217" y="100075"/>
            <a:ext cx="4150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The</a:t>
            </a:r>
            <a:r>
              <a:rPr spc="-229" dirty="0"/>
              <a:t> </a:t>
            </a:r>
            <a:r>
              <a:rPr dirty="0"/>
              <a:t>Abstract</a:t>
            </a:r>
            <a:r>
              <a:rPr spc="-110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719072"/>
            <a:ext cx="8609965" cy="37986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marR="7620" indent="-342900" algn="just">
              <a:lnSpc>
                <a:spcPts val="2110"/>
              </a:lnSpc>
              <a:spcBef>
                <a:spcPts val="605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2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abstraction</a:t>
            </a:r>
            <a:r>
              <a:rPr sz="22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hiding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certain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showing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only </a:t>
            </a:r>
            <a:r>
              <a:rPr sz="2200" dirty="0">
                <a:latin typeface="Times New Roman"/>
                <a:cs typeface="Times New Roman"/>
              </a:rPr>
              <a:t>essential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ts val="2375"/>
              </a:lnSpc>
              <a:spcBef>
                <a:spcPts val="20"/>
              </a:spcBef>
              <a:buFont typeface="Wingdings"/>
              <a:buChar char=""/>
              <a:tabLst>
                <a:tab pos="354965" algn="l"/>
                <a:tab pos="1826260" algn="l"/>
                <a:tab pos="2211705" algn="l"/>
                <a:tab pos="2844800" algn="l"/>
                <a:tab pos="3399154" algn="l"/>
                <a:tab pos="3830320" algn="l"/>
                <a:tab pos="4990465" algn="l"/>
                <a:tab pos="5655310" algn="l"/>
                <a:tab pos="6457950" algn="l"/>
                <a:tab pos="7493634" algn="l"/>
                <a:tab pos="8435340" algn="l"/>
              </a:tabLst>
            </a:pPr>
            <a:r>
              <a:rPr sz="2200" spc="-10" dirty="0">
                <a:latin typeface="Times New Roman"/>
                <a:cs typeface="Times New Roman"/>
              </a:rPr>
              <a:t>Abstraction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java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achieved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either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abstract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lang="en-US"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or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interfaces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Java,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instantiated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directly,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but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classes.</a:t>
            </a:r>
            <a:endParaRPr sz="2200" dirty="0">
              <a:latin typeface="Times New Roman"/>
              <a:cs typeface="Times New Roman"/>
            </a:endParaRPr>
          </a:p>
          <a:p>
            <a:pPr marL="12700" marR="10160" algn="just">
              <a:lnSpc>
                <a:spcPts val="2110"/>
              </a:lnSpc>
              <a:spcBef>
                <a:spcPts val="515"/>
              </a:spcBef>
              <a:tabLst>
                <a:tab pos="2411095" algn="l"/>
              </a:tabLst>
            </a:pPr>
            <a:endParaRPr lang="en-US" sz="2200" b="1" dirty="0">
              <a:latin typeface="Times New Roman"/>
              <a:cs typeface="Times New Roman"/>
            </a:endParaRPr>
          </a:p>
          <a:p>
            <a:pPr marL="12700" marR="10160" algn="just">
              <a:lnSpc>
                <a:spcPts val="2110"/>
              </a:lnSpc>
              <a:spcBef>
                <a:spcPts val="515"/>
              </a:spcBef>
              <a:tabLst>
                <a:tab pos="2411095" algn="l"/>
              </a:tabLst>
            </a:pPr>
            <a:r>
              <a:rPr sz="2200" b="1" dirty="0">
                <a:latin typeface="Times New Roman"/>
                <a:cs typeface="Times New Roman"/>
              </a:rPr>
              <a:t>Abstract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methods: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declared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without</a:t>
            </a:r>
            <a:r>
              <a:rPr sz="22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2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signature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specifying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body.</a:t>
            </a:r>
            <a:endParaRPr sz="2200" dirty="0">
              <a:latin typeface="Times New Roman"/>
              <a:cs typeface="Times New Roman"/>
            </a:endParaRPr>
          </a:p>
          <a:p>
            <a:pPr marL="12700" marR="7620" indent="342265" algn="just">
              <a:lnSpc>
                <a:spcPct val="90000"/>
              </a:lnSpc>
              <a:spcBef>
                <a:spcPts val="26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Subclasses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methods. </a:t>
            </a:r>
            <a:endParaRPr lang="en-US" sz="2200" spc="-10" dirty="0">
              <a:latin typeface="Times New Roman"/>
              <a:cs typeface="Times New Roman"/>
            </a:endParaRPr>
          </a:p>
          <a:p>
            <a:pPr marL="12700" marR="7620" algn="just">
              <a:lnSpc>
                <a:spcPct val="90000"/>
              </a:lnSpc>
              <a:spcBef>
                <a:spcPts val="265"/>
              </a:spcBef>
              <a:tabLst>
                <a:tab pos="354965" algn="l"/>
              </a:tabLst>
            </a:pP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129" y="100075"/>
            <a:ext cx="173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52602"/>
            <a:ext cx="8682990" cy="511550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Concrete</a:t>
            </a:r>
            <a:r>
              <a:rPr sz="22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methods:</a:t>
            </a:r>
            <a:r>
              <a:rPr sz="22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Apart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methods,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contain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concrete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(non-</a:t>
            </a:r>
            <a:r>
              <a:rPr sz="2200" dirty="0">
                <a:latin typeface="Times New Roman"/>
                <a:cs typeface="Times New Roman"/>
              </a:rPr>
              <a:t>abstract)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methods.</a:t>
            </a:r>
            <a:endParaRPr sz="2200" dirty="0">
              <a:latin typeface="Times New Roman"/>
              <a:cs typeface="Times New Roman"/>
            </a:endParaRPr>
          </a:p>
          <a:p>
            <a:pPr marL="425450" indent="-412750">
              <a:lnSpc>
                <a:spcPts val="2510"/>
              </a:lnSpc>
              <a:spcBef>
                <a:spcPts val="225"/>
              </a:spcBef>
              <a:buFont typeface="Wingdings"/>
              <a:buChar char=""/>
              <a:tabLst>
                <a:tab pos="425450" algn="l"/>
              </a:tabLst>
            </a:pPr>
            <a:r>
              <a:rPr sz="2200" dirty="0">
                <a:latin typeface="Times New Roman"/>
                <a:cs typeface="Times New Roman"/>
              </a:rPr>
              <a:t>Concrete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complete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implementation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directly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subclasses.</a:t>
            </a:r>
            <a:endParaRPr sz="2200" dirty="0">
              <a:latin typeface="Times New Roman"/>
              <a:cs typeface="Times New Roman"/>
            </a:endParaRPr>
          </a:p>
          <a:p>
            <a:pPr marL="12700" marR="6985">
              <a:lnSpc>
                <a:spcPts val="2380"/>
              </a:lnSpc>
              <a:spcBef>
                <a:spcPts val="56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Instance</a:t>
            </a:r>
            <a:r>
              <a:rPr sz="2200" b="1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variables:</a:t>
            </a:r>
            <a:r>
              <a:rPr sz="22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inherited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subclasses.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510"/>
              </a:lnSpc>
              <a:spcBef>
                <a:spcPts val="22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accessed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itself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its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subclasses.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  <a:spcBef>
                <a:spcPts val="260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Constructors:</a:t>
            </a:r>
            <a:r>
              <a:rPr sz="2200" b="1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constructors,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initialize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class.</a:t>
            </a:r>
            <a:endParaRPr sz="2200" dirty="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2380"/>
              </a:lnSpc>
              <a:spcBef>
                <a:spcPts val="565"/>
              </a:spcBef>
              <a:buFont typeface="Wingdings"/>
              <a:buChar char="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constructors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are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called</a:t>
            </a:r>
            <a:r>
              <a:rPr sz="2200" b="1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concrete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subclass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 </a:t>
            </a:r>
            <a:r>
              <a:rPr sz="2200" spc="-10" dirty="0">
                <a:latin typeface="Times New Roman"/>
                <a:cs typeface="Times New Roman"/>
              </a:rPr>
              <a:t>created.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  <a:spcBef>
                <a:spcPts val="22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200" b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200" b="1" spc="3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instantiated:</a:t>
            </a:r>
            <a:r>
              <a:rPr sz="2200" b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abstract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instantiated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directly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new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keyword.</a:t>
            </a:r>
            <a:endParaRPr sz="2200" dirty="0">
              <a:latin typeface="Times New Roman"/>
              <a:cs typeface="Times New Roman"/>
            </a:endParaRPr>
          </a:p>
          <a:p>
            <a:pPr marL="12700" marR="6985">
              <a:lnSpc>
                <a:spcPts val="2380"/>
              </a:lnSpc>
              <a:spcBef>
                <a:spcPts val="560"/>
              </a:spcBef>
              <a:tabLst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76288"/>
            <a:ext cx="8839200" cy="5943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An abstract class can contain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, which are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implemented in concrete subclasses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previous section, we have defined the superclass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subclasses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Circle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Rectangle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models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 features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geometric objects.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Both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Circle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contain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getArea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getPerimeter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methods for computing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perimeter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rectangle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Since you can compute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perimeters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all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geometric objects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 is better to define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getArea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getPerimeter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methods in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However, these methods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cannot be implemented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class, because their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depends 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specific type of geometric object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Such methods are referred to as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After you define the methods in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 becomes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class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Abstract classes are denoted using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modifier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class header.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UML graphic notation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names of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their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italicized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as shown in the following Figure.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4572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 Classes and Abstract Methods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09600"/>
            <a:ext cx="88392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abstract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color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"white"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filled;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java.util.Date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dateCreated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Construct a default geometric object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protected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dateCreated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java.util.Date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Construct a geometric object with color and filled value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protected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color,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filled)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dateCreated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java.util.Date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color;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.filled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filled;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Return color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color; }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/** Set a new color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color)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 Classes and Abstract Methods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6019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Return filled.*/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isFilled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filled;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Set a new filled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setFilled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filled)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.filled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filled;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Get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dateCreated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java.util.Date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getDateCreated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dateCreated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Abstract method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abstract double </a:t>
            </a:r>
            <a:r>
              <a:rPr lang="en-US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/** Abstract method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getPerimeter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*/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abstract double </a:t>
            </a:r>
            <a:r>
              <a:rPr lang="en-US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getPerimeter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 Classes and Abstract Methods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Abstract classes are like regular classes, but you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cannot create instances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classes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using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defined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without implementation.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provided by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 class that contains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must be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defined as abstract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constructor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class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defined 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because it is used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only by subclasses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When you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create an instance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concrete subclass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its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superclass’s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constructor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invoked to initialize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fields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defined in the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 Classes and Abstract Methods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436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GeometricObject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class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defines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 features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(data fields and methods) for geometric objects and provides appropriate constructors.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Because you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don’t know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to compute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perimeters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geometric objects,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getArea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getPerimeter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defined 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 methods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These methods are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implemented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subclasses.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implementation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Circle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shown in the following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91AC8E-B5D2-4BA9-AB11-71CC13CCC5E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457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Cont…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3601" y="1677161"/>
            <a:ext cx="6553200" cy="3063018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00355" marR="1484630" indent="-2089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extends</a:t>
            </a:r>
            <a:r>
              <a:rPr lang="en-US" spc="-5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endParaRPr lang="en-US" sz="1800" spc="-50" dirty="0">
              <a:latin typeface="Calibri"/>
              <a:cs typeface="Calibri"/>
            </a:endParaRPr>
          </a:p>
          <a:p>
            <a:pPr marL="300355" marR="1484630" indent="-2089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private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radius;</a:t>
            </a:r>
            <a:endParaRPr sz="1800" dirty="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Circle(String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color,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radius)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510540" marR="1786889">
              <a:lnSpc>
                <a:spcPct val="100000"/>
              </a:lnSpc>
            </a:pP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super(color); </a:t>
            </a:r>
            <a:endParaRPr lang="en-US" sz="1800" spc="-10" dirty="0">
              <a:latin typeface="Calibri"/>
              <a:cs typeface="Calibri"/>
            </a:endParaRPr>
          </a:p>
          <a:p>
            <a:pPr marL="510540" marR="594360" indent="-210820">
              <a:lnSpc>
                <a:spcPct val="100000"/>
              </a:lnSpc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public</a:t>
            </a:r>
            <a:r>
              <a:rPr sz="1800" spc="-2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double</a:t>
            </a:r>
            <a:r>
              <a:rPr sz="1800" spc="-3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lang="en-US" spc="-10" dirty="0" err="1">
                <a:solidFill>
                  <a:srgbClr val="943735"/>
                </a:solidFill>
                <a:latin typeface="Calibri"/>
                <a:cs typeface="Calibri"/>
              </a:rPr>
              <a:t>get</a:t>
            </a:r>
            <a:r>
              <a:rPr sz="1800" spc="-10" dirty="0" err="1">
                <a:solidFill>
                  <a:srgbClr val="943735"/>
                </a:solidFill>
                <a:latin typeface="Calibri"/>
                <a:cs typeface="Calibri"/>
              </a:rPr>
              <a:t>Area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()</a:t>
            </a:r>
            <a:endParaRPr lang="en-US" sz="1800" spc="-10" dirty="0">
              <a:solidFill>
                <a:srgbClr val="943735"/>
              </a:solidFill>
              <a:latin typeface="Calibri"/>
              <a:cs typeface="Calibri"/>
            </a:endParaRPr>
          </a:p>
          <a:p>
            <a:pPr marL="510540" marR="594360" indent="-210820">
              <a:lnSpc>
                <a:spcPct val="100000"/>
              </a:lnSpc>
            </a:pPr>
            <a:r>
              <a:rPr sz="1800" spc="-3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{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return</a:t>
            </a:r>
            <a:r>
              <a:rPr sz="1800" spc="-4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Math.PI</a:t>
            </a:r>
            <a:r>
              <a:rPr sz="1800" spc="-5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*</a:t>
            </a:r>
            <a:r>
              <a:rPr sz="1800" spc="-4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radius</a:t>
            </a:r>
            <a:r>
              <a:rPr sz="1800" spc="-4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*</a:t>
            </a:r>
            <a:r>
              <a:rPr sz="1800" spc="-4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radius;</a:t>
            </a:r>
            <a:endParaRPr sz="1800" dirty="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</a:pP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840" y="830494"/>
            <a:ext cx="103060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05" y="915161"/>
            <a:ext cx="3724910" cy="4724400"/>
          </a:xfrm>
          <a:custGeom>
            <a:avLst/>
            <a:gdLst/>
            <a:ahLst/>
            <a:cxnLst/>
            <a:rect l="l" t="t" r="r" b="b"/>
            <a:pathLst>
              <a:path w="3724910" h="4724400">
                <a:moveTo>
                  <a:pt x="3724655" y="0"/>
                </a:moveTo>
                <a:lnTo>
                  <a:pt x="0" y="0"/>
                </a:lnTo>
                <a:lnTo>
                  <a:pt x="0" y="4724400"/>
                </a:lnTo>
                <a:lnTo>
                  <a:pt x="3724655" y="4724400"/>
                </a:lnTo>
                <a:lnTo>
                  <a:pt x="37246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05" y="915161"/>
            <a:ext cx="3724910" cy="4872488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299720" marR="700405" indent="-208915">
              <a:lnSpc>
                <a:spcPct val="100000"/>
              </a:lnSpc>
              <a:spcBef>
                <a:spcPts val="119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Rectangle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extends</a:t>
            </a:r>
            <a:r>
              <a:rPr sz="1800" spc="-6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private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length; </a:t>
            </a:r>
            <a:r>
              <a:rPr sz="1800" dirty="0">
                <a:latin typeface="Calibri"/>
                <a:cs typeface="Calibri"/>
              </a:rPr>
              <a:t>private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width;</a:t>
            </a:r>
            <a:endParaRPr sz="1800" dirty="0">
              <a:latin typeface="Calibri"/>
              <a:cs typeface="Calibri"/>
            </a:endParaRPr>
          </a:p>
          <a:p>
            <a:pPr marL="90805" marR="23241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Rectangle(String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color,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double </a:t>
            </a:r>
            <a:r>
              <a:rPr sz="1800" dirty="0">
                <a:latin typeface="Calibri"/>
                <a:cs typeface="Calibri"/>
              </a:rPr>
              <a:t>length,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width)</a:t>
            </a:r>
            <a:r>
              <a:rPr sz="1800" spc="-50" dirty="0">
                <a:latin typeface="Calibri"/>
                <a:cs typeface="Calibri"/>
              </a:rPr>
              <a:t> {</a:t>
            </a:r>
            <a:endParaRPr sz="1800" dirty="0">
              <a:latin typeface="Calibri"/>
              <a:cs typeface="Calibri"/>
            </a:endParaRPr>
          </a:p>
          <a:p>
            <a:pPr marL="509905" marR="1354455">
              <a:lnSpc>
                <a:spcPct val="100000"/>
              </a:lnSpc>
            </a:pP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super(color); </a:t>
            </a:r>
            <a:r>
              <a:rPr sz="1800" spc="-10" dirty="0">
                <a:latin typeface="Calibri"/>
                <a:cs typeface="Calibri"/>
              </a:rPr>
              <a:t>this.length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length; this.width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width;</a:t>
            </a:r>
            <a:endParaRPr sz="1800" dirty="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@Override</a:t>
            </a:r>
            <a:endParaRPr sz="1800" dirty="0">
              <a:latin typeface="Calibri"/>
              <a:cs typeface="Calibri"/>
            </a:endParaRPr>
          </a:p>
          <a:p>
            <a:pPr marL="509905" marR="580390" indent="-2108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public</a:t>
            </a:r>
            <a:r>
              <a:rPr sz="1800" spc="-1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double</a:t>
            </a:r>
            <a:r>
              <a:rPr sz="1800" spc="-3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lang="en-US" spc="-10" dirty="0" err="1">
                <a:solidFill>
                  <a:srgbClr val="943735"/>
                </a:solidFill>
                <a:latin typeface="Calibri"/>
                <a:cs typeface="Calibri"/>
              </a:rPr>
              <a:t>get</a:t>
            </a:r>
            <a:r>
              <a:rPr sz="1800" spc="-10" dirty="0" err="1">
                <a:solidFill>
                  <a:srgbClr val="943735"/>
                </a:solidFill>
                <a:latin typeface="Calibri"/>
                <a:cs typeface="Calibri"/>
              </a:rPr>
              <a:t>Area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()</a:t>
            </a:r>
            <a:r>
              <a:rPr sz="1800" spc="-2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{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return</a:t>
            </a:r>
            <a:r>
              <a:rPr sz="1800" spc="-5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length</a:t>
            </a: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*</a:t>
            </a:r>
            <a:r>
              <a:rPr sz="1800" spc="-6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width;</a:t>
            </a:r>
            <a:endParaRPr sz="1800" dirty="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68673" y="915161"/>
            <a:ext cx="5257800" cy="4876800"/>
          </a:xfrm>
          <a:custGeom>
            <a:avLst/>
            <a:gdLst/>
            <a:ahLst/>
            <a:cxnLst/>
            <a:rect l="l" t="t" r="r" b="b"/>
            <a:pathLst>
              <a:path w="5257800" h="4876800">
                <a:moveTo>
                  <a:pt x="0" y="4876800"/>
                </a:moveTo>
                <a:lnTo>
                  <a:pt x="5257800" y="4876800"/>
                </a:lnTo>
                <a:lnTo>
                  <a:pt x="5257800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6652" y="1130553"/>
            <a:ext cx="4692650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AbstractClassExample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args)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Circle</a:t>
            </a:r>
            <a:r>
              <a:rPr sz="1800" spc="-3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circle</a:t>
            </a:r>
            <a:r>
              <a:rPr sz="1800" spc="-3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=</a:t>
            </a:r>
            <a:r>
              <a:rPr sz="1800" spc="-5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new</a:t>
            </a:r>
            <a:r>
              <a:rPr sz="1800" spc="-5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Circle("Red",</a:t>
            </a:r>
            <a:r>
              <a:rPr sz="1800" spc="-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5.0);</a:t>
            </a:r>
            <a:endParaRPr sz="1800" dirty="0">
              <a:latin typeface="Calibri"/>
              <a:cs typeface="Calibri"/>
            </a:endParaRPr>
          </a:p>
          <a:p>
            <a:pPr marL="12700" marR="11430"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GeometricObject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rectangle</a:t>
            </a:r>
            <a:r>
              <a:rPr sz="1800" spc="-1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new</a:t>
            </a:r>
            <a:r>
              <a:rPr sz="1800" spc="-3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Rectangle("Blue",</a:t>
            </a:r>
            <a:r>
              <a:rPr sz="1800" dirty="0">
                <a:solidFill>
                  <a:srgbClr val="943735"/>
                </a:solidFill>
                <a:latin typeface="Calibri"/>
                <a:cs typeface="Calibri"/>
              </a:rPr>
              <a:t> 3.0,</a:t>
            </a:r>
            <a:r>
              <a:rPr sz="1800" spc="-30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4.0); </a:t>
            </a:r>
            <a:endParaRPr lang="en-US" sz="1800" spc="-10" dirty="0">
              <a:solidFill>
                <a:srgbClr val="943735"/>
              </a:solidFill>
              <a:latin typeface="Calibri"/>
              <a:cs typeface="Calibri"/>
            </a:endParaRPr>
          </a:p>
          <a:p>
            <a:pPr marL="12700" marR="11430">
              <a:lnSpc>
                <a:spcPct val="100000"/>
              </a:lnSpc>
            </a:pPr>
            <a:r>
              <a:rPr sz="1800" spc="-10" dirty="0" err="1">
                <a:solidFill>
                  <a:srgbClr val="943735"/>
                </a:solidFill>
                <a:latin typeface="Calibri"/>
                <a:cs typeface="Calibri"/>
              </a:rPr>
              <a:t>circle.displayColor</a:t>
            </a:r>
            <a:r>
              <a:rPr sz="1800" spc="-10" dirty="0">
                <a:solidFill>
                  <a:srgbClr val="943735"/>
                </a:solidFill>
                <a:latin typeface="Calibri"/>
                <a:cs typeface="Calibri"/>
              </a:rPr>
              <a:t>();</a:t>
            </a:r>
            <a:endParaRPr sz="1800" dirty="0">
              <a:latin typeface="Calibri"/>
              <a:cs typeface="Calibri"/>
            </a:endParaRPr>
          </a:p>
          <a:p>
            <a:pPr marL="12700" marR="845819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shape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is:</a:t>
            </a:r>
            <a:r>
              <a:rPr sz="1800" spc="-25" dirty="0">
                <a:latin typeface="Calibri"/>
                <a:cs typeface="Calibri"/>
              </a:rPr>
              <a:t> Red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System.out.println("Area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circle: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"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+ </a:t>
            </a:r>
            <a:r>
              <a:rPr sz="1800" spc="-10" dirty="0" err="1">
                <a:solidFill>
                  <a:srgbClr val="FF0000"/>
                </a:solidFill>
                <a:latin typeface="Calibri"/>
                <a:cs typeface="Calibri"/>
              </a:rPr>
              <a:t>circle.</a:t>
            </a:r>
            <a:r>
              <a:rPr lang="en-US" spc="-10" dirty="0" err="1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1800" spc="-10" dirty="0" err="1">
                <a:solidFill>
                  <a:srgbClr val="FF0000"/>
                </a:solidFill>
                <a:latin typeface="Calibri"/>
                <a:cs typeface="Calibri"/>
              </a:rPr>
              <a:t>Area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());</a:t>
            </a:r>
            <a:endParaRPr sz="1800" dirty="0">
              <a:latin typeface="Calibri"/>
              <a:cs typeface="Calibri"/>
            </a:endParaRPr>
          </a:p>
          <a:p>
            <a:pPr marL="12700" marR="5080" indent="514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circle: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78.53981633974483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rectangle.displayColor();</a:t>
            </a:r>
            <a:endParaRPr sz="1800" dirty="0">
              <a:latin typeface="Calibri"/>
              <a:cs typeface="Calibri"/>
            </a:endParaRPr>
          </a:p>
          <a:p>
            <a:pPr marL="12700" marR="46926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shape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Blue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System.out.println("Area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rectangle: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"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+ </a:t>
            </a:r>
            <a:r>
              <a:rPr sz="1800" spc="-10" dirty="0" err="1">
                <a:solidFill>
                  <a:srgbClr val="FF0000"/>
                </a:solidFill>
                <a:latin typeface="Calibri"/>
                <a:cs typeface="Calibri"/>
              </a:rPr>
              <a:t>rectangle.</a:t>
            </a:r>
            <a:r>
              <a:rPr lang="en-US" spc="-10" dirty="0" err="1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1800" spc="-10" dirty="0" err="1">
                <a:solidFill>
                  <a:srgbClr val="FF0000"/>
                </a:solidFill>
                <a:latin typeface="Calibri"/>
                <a:cs typeface="Calibri"/>
              </a:rPr>
              <a:t>Area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());</a:t>
            </a:r>
            <a:endParaRPr sz="1800" dirty="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rectangle: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12.0</a:t>
            </a:r>
            <a:endParaRPr sz="180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1861" y="2807461"/>
            <a:ext cx="168655" cy="7112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626" y="100075"/>
            <a:ext cx="36944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Interface</a:t>
            </a:r>
            <a:r>
              <a:rPr spc="-8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spc="-20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11831"/>
            <a:ext cx="8681720" cy="368363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abstraction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interfaces.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24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completely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"abstract</a:t>
            </a:r>
            <a:r>
              <a:rPr sz="24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class"</a:t>
            </a:r>
            <a:r>
              <a:rPr sz="24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empty </a:t>
            </a:r>
            <a:r>
              <a:rPr sz="2400" spc="-10" dirty="0">
                <a:latin typeface="Times New Roman"/>
                <a:cs typeface="Times New Roman"/>
              </a:rPr>
              <a:t>bodies.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Java,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reference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defines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contract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methods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implement.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  <a:tab pos="682625" algn="l"/>
                <a:tab pos="1870075" algn="l"/>
                <a:tab pos="2146300" algn="l"/>
                <a:tab pos="2794000" algn="l"/>
                <a:tab pos="3170555" algn="l"/>
                <a:tab pos="4240530" algn="l"/>
                <a:tab pos="5391150" algn="l"/>
                <a:tab pos="6884034" algn="l"/>
                <a:tab pos="7327265" algn="l"/>
                <a:tab pos="8533130" algn="l"/>
              </a:tabLst>
            </a:pP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provides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way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achieve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multiple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allowing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interfaces.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414655" algn="l"/>
                <a:tab pos="927100" algn="l"/>
                <a:tab pos="2134235" algn="l"/>
                <a:tab pos="3155315" algn="l"/>
                <a:tab pos="3888740" algn="l"/>
                <a:tab pos="5059045" algn="l"/>
                <a:tab pos="5335270" algn="l"/>
                <a:tab pos="6069330" algn="l"/>
                <a:tab pos="7022465" algn="l"/>
                <a:tab pos="773747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interface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defines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methods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class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should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without </a:t>
            </a:r>
            <a:r>
              <a:rPr sz="2400" dirty="0">
                <a:latin typeface="Times New Roman"/>
                <a:cs typeface="Times New Roman"/>
              </a:rPr>
              <a:t>providing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details.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270" y="164083"/>
            <a:ext cx="67456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key</a:t>
            </a:r>
            <a:r>
              <a:rPr sz="3200" spc="-30" dirty="0"/>
              <a:t> </a:t>
            </a:r>
            <a:r>
              <a:rPr sz="3200" dirty="0"/>
              <a:t>characteristics</a:t>
            </a:r>
            <a:r>
              <a:rPr sz="3200" spc="-55" dirty="0"/>
              <a:t> </a:t>
            </a:r>
            <a:r>
              <a:rPr sz="3200" dirty="0"/>
              <a:t>of</a:t>
            </a:r>
            <a:r>
              <a:rPr sz="3200" spc="-40" dirty="0"/>
              <a:t> </a:t>
            </a:r>
            <a:r>
              <a:rPr sz="3200" dirty="0"/>
              <a:t>Interface</a:t>
            </a:r>
            <a:r>
              <a:rPr sz="3200" spc="-50" dirty="0"/>
              <a:t> </a:t>
            </a:r>
            <a:r>
              <a:rPr sz="3200" dirty="0"/>
              <a:t>in</a:t>
            </a:r>
            <a:r>
              <a:rPr sz="3200" spc="-25" dirty="0"/>
              <a:t> </a:t>
            </a:r>
            <a:r>
              <a:rPr sz="3200" spc="-20" dirty="0"/>
              <a:t>Java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1140" y="711831"/>
            <a:ext cx="8682990" cy="46348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abstract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classes,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do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 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body 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"implement"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  <a:tab pos="871855" algn="l"/>
                <a:tab pos="2926715" algn="l"/>
                <a:tab pos="3324860" algn="l"/>
                <a:tab pos="3756025" algn="l"/>
                <a:tab pos="5040630" algn="l"/>
                <a:tab pos="5642610" algn="l"/>
                <a:tab pos="6377305" algn="l"/>
                <a:tab pos="7537450" algn="l"/>
                <a:tab pos="7983855" algn="l"/>
                <a:tab pos="8382000" algn="l"/>
              </a:tabLst>
            </a:pP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implementation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interface,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you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must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override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its </a:t>
            </a:r>
            <a:r>
              <a:rPr sz="2400" spc="-10" dirty="0">
                <a:latin typeface="Times New Roman"/>
                <a:cs typeface="Times New Roman"/>
              </a:rPr>
              <a:t>methods.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default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abstract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public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default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public,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static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final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contain</a:t>
            </a:r>
            <a:r>
              <a:rPr sz="240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constructor</a:t>
            </a:r>
            <a:r>
              <a:rPr sz="24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(as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objects).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Note:</a:t>
            </a:r>
            <a:r>
              <a:rPr sz="2400" b="1" u="sng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define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Java,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keyword.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676" y="19557"/>
            <a:ext cx="45091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Interface</a:t>
            </a:r>
            <a:r>
              <a:rPr sz="3200" spc="-30" dirty="0"/>
              <a:t> </a:t>
            </a:r>
            <a:r>
              <a:rPr sz="3200" dirty="0"/>
              <a:t>in</a:t>
            </a:r>
            <a:r>
              <a:rPr sz="3200" spc="-10" dirty="0"/>
              <a:t> </a:t>
            </a:r>
            <a:r>
              <a:rPr sz="3200" dirty="0"/>
              <a:t>Java</a:t>
            </a:r>
            <a:r>
              <a:rPr sz="3200" spc="-15" dirty="0"/>
              <a:t> </a:t>
            </a:r>
            <a:r>
              <a:rPr sz="3200" spc="-1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43840" y="830494"/>
            <a:ext cx="103060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9657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362" y="628141"/>
            <a:ext cx="3416300" cy="6243320"/>
            <a:chOff x="102362" y="628141"/>
            <a:chExt cx="3416300" cy="6243320"/>
          </a:xfrm>
        </p:grpSpPr>
        <p:sp>
          <p:nvSpPr>
            <p:cNvPr id="6" name="object 6"/>
            <p:cNvSpPr/>
            <p:nvPr/>
          </p:nvSpPr>
          <p:spPr>
            <a:xfrm>
              <a:off x="115062" y="640841"/>
              <a:ext cx="3390900" cy="6217920"/>
            </a:xfrm>
            <a:custGeom>
              <a:avLst/>
              <a:gdLst/>
              <a:ahLst/>
              <a:cxnLst/>
              <a:rect l="l" t="t" r="r" b="b"/>
              <a:pathLst>
                <a:path w="3390900" h="6217920">
                  <a:moveTo>
                    <a:pt x="3390900" y="0"/>
                  </a:moveTo>
                  <a:lnTo>
                    <a:pt x="0" y="0"/>
                  </a:lnTo>
                  <a:lnTo>
                    <a:pt x="0" y="6217920"/>
                  </a:lnTo>
                  <a:lnTo>
                    <a:pt x="3390900" y="6217920"/>
                  </a:lnTo>
                  <a:lnTo>
                    <a:pt x="3390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062" y="640841"/>
              <a:ext cx="3390900" cy="6217920"/>
            </a:xfrm>
            <a:custGeom>
              <a:avLst/>
              <a:gdLst/>
              <a:ahLst/>
              <a:cxnLst/>
              <a:rect l="l" t="t" r="r" b="b"/>
              <a:pathLst>
                <a:path w="3390900" h="6217920">
                  <a:moveTo>
                    <a:pt x="0" y="6217920"/>
                  </a:moveTo>
                  <a:lnTo>
                    <a:pt x="3390900" y="6217920"/>
                  </a:lnTo>
                  <a:lnTo>
                    <a:pt x="3390900" y="0"/>
                  </a:lnTo>
                  <a:lnTo>
                    <a:pt x="0" y="0"/>
                  </a:lnTo>
                  <a:lnTo>
                    <a:pt x="0" y="621792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3039" y="840435"/>
            <a:ext cx="3119755" cy="578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6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makeSound();</a:t>
            </a:r>
            <a:endParaRPr sz="1800">
              <a:latin typeface="Calibri"/>
              <a:cs typeface="Calibri"/>
            </a:endParaRPr>
          </a:p>
          <a:p>
            <a:pPr marL="220979" marR="215900" indent="-2089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Abstract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declaration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String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getSpecies();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Abstract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declaration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declaration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String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KINGDOM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"Animalia";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20979" marR="237490" indent="-20891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504D"/>
                </a:solidFill>
                <a:latin typeface="Calibri"/>
                <a:cs typeface="Calibri"/>
              </a:rPr>
              <a:t>implements</a:t>
            </a:r>
            <a:r>
              <a:rPr sz="1800" b="1" spc="-6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Animal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431800" marR="5080" indent="-2108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makeSound()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System.out.println("Woof!");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getSpecies()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"Canine";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21861" y="579373"/>
            <a:ext cx="5054600" cy="6292215"/>
            <a:chOff x="3721861" y="579373"/>
            <a:chExt cx="5054600" cy="6292215"/>
          </a:xfrm>
        </p:grpSpPr>
        <p:sp>
          <p:nvSpPr>
            <p:cNvPr id="10" name="object 10"/>
            <p:cNvSpPr/>
            <p:nvPr/>
          </p:nvSpPr>
          <p:spPr>
            <a:xfrm>
              <a:off x="3734561" y="592073"/>
              <a:ext cx="5029200" cy="6266815"/>
            </a:xfrm>
            <a:custGeom>
              <a:avLst/>
              <a:gdLst/>
              <a:ahLst/>
              <a:cxnLst/>
              <a:rect l="l" t="t" r="r" b="b"/>
              <a:pathLst>
                <a:path w="5029200" h="6266815">
                  <a:moveTo>
                    <a:pt x="5029199" y="0"/>
                  </a:moveTo>
                  <a:lnTo>
                    <a:pt x="0" y="0"/>
                  </a:lnTo>
                  <a:lnTo>
                    <a:pt x="0" y="6266688"/>
                  </a:lnTo>
                  <a:lnTo>
                    <a:pt x="5029199" y="6266688"/>
                  </a:lnTo>
                  <a:lnTo>
                    <a:pt x="5029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34561" y="592073"/>
              <a:ext cx="5029200" cy="6266815"/>
            </a:xfrm>
            <a:custGeom>
              <a:avLst/>
              <a:gdLst/>
              <a:ahLst/>
              <a:cxnLst/>
              <a:rect l="l" t="t" r="r" b="b"/>
              <a:pathLst>
                <a:path w="5029200" h="6266815">
                  <a:moveTo>
                    <a:pt x="0" y="6266688"/>
                  </a:moveTo>
                  <a:lnTo>
                    <a:pt x="5029199" y="6266688"/>
                  </a:lnTo>
                  <a:lnTo>
                    <a:pt x="5029199" y="0"/>
                  </a:lnTo>
                  <a:lnTo>
                    <a:pt x="0" y="0"/>
                  </a:lnTo>
                  <a:lnTo>
                    <a:pt x="0" y="6266688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13175" y="541477"/>
            <a:ext cx="4062095" cy="633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class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504D"/>
                </a:solidFill>
                <a:latin typeface="Calibri"/>
                <a:cs typeface="Calibri"/>
              </a:rPr>
              <a:t>implements</a:t>
            </a:r>
            <a:r>
              <a:rPr sz="1800" b="1" spc="-3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Animal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431800" marR="774700" indent="-21082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public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void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makeSound()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{ </a:t>
            </a:r>
            <a:r>
              <a:rPr sz="1800" b="1" spc="-10" dirty="0">
                <a:latin typeface="Calibri"/>
                <a:cs typeface="Calibri"/>
              </a:rPr>
              <a:t>System.out.println("Meow!");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@Override</a:t>
            </a:r>
            <a:endParaRPr sz="1800">
              <a:latin typeface="Calibri"/>
              <a:cs typeface="Calibri"/>
            </a:endParaRPr>
          </a:p>
          <a:p>
            <a:pPr marL="431800" marR="1327150" indent="-21082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public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String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getSpecies()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{ </a:t>
            </a:r>
            <a:r>
              <a:rPr sz="1800" b="1" dirty="0">
                <a:latin typeface="Calibri"/>
                <a:cs typeface="Calibri"/>
              </a:rPr>
              <a:t>return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"Feline";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InterfaceExample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431800" marR="377190" indent="-2108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args)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dog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Dog(); dog.makeSound();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Woof!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System.out.println(dog.getSpecies());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Canine</a:t>
            </a:r>
            <a:endParaRPr sz="1800">
              <a:latin typeface="Calibri"/>
              <a:cs typeface="Calibri"/>
            </a:endParaRPr>
          </a:p>
          <a:p>
            <a:pPr marL="431800" marR="5080">
              <a:lnSpc>
                <a:spcPct val="100000"/>
              </a:lnSpc>
              <a:tabLst>
                <a:tab pos="237299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Animal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cat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Cat(); cat.makeSound();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Meow!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System.out.println(cat.getSpecies());</a:t>
            </a:r>
            <a:endParaRPr sz="1800">
              <a:latin typeface="Calibri"/>
              <a:cs typeface="Calibri"/>
            </a:endParaRPr>
          </a:p>
          <a:p>
            <a:pPr marL="431800" marR="46355" indent="-4191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Feline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System.out.println(Animal.KINGDOM);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Animalia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6092" y="19557"/>
            <a:ext cx="61309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200" dirty="0"/>
              <a:t> </a:t>
            </a:r>
            <a:r>
              <a:rPr sz="3200" dirty="0"/>
              <a:t>And</a:t>
            </a:r>
            <a:r>
              <a:rPr sz="3200" spc="-120" dirty="0"/>
              <a:t> </a:t>
            </a:r>
            <a:r>
              <a:rPr sz="3200" dirty="0"/>
              <a:t>When</a:t>
            </a:r>
            <a:r>
              <a:rPr sz="3200" spc="-100" dirty="0"/>
              <a:t> </a:t>
            </a:r>
            <a:r>
              <a:rPr sz="3200" spc="-114" dirty="0"/>
              <a:t>To</a:t>
            </a:r>
            <a:r>
              <a:rPr sz="3200" spc="-30" dirty="0"/>
              <a:t> </a:t>
            </a:r>
            <a:r>
              <a:rPr sz="3200" dirty="0"/>
              <a:t>Use</a:t>
            </a:r>
            <a:r>
              <a:rPr sz="3200" spc="-30" dirty="0"/>
              <a:t> </a:t>
            </a:r>
            <a:r>
              <a:rPr sz="3200" spc="-10" dirty="0"/>
              <a:t>Interfaces?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1140" y="517905"/>
            <a:ext cx="8683625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420370">
              <a:lnSpc>
                <a:spcPct val="100000"/>
              </a:lnSpc>
              <a:spcBef>
                <a:spcPts val="100"/>
              </a:spcBef>
              <a:buFont typeface="Times New Roman"/>
              <a:buAutoNum type="arabicParenR"/>
              <a:tabLst>
                <a:tab pos="433070" algn="l"/>
                <a:tab pos="927100" algn="l"/>
                <a:tab pos="2059305" algn="l"/>
                <a:tab pos="3257550" algn="l"/>
                <a:tab pos="3525520" algn="l"/>
                <a:tab pos="4217670" algn="l"/>
                <a:tab pos="5213350" algn="l"/>
                <a:tab pos="6171565" algn="l"/>
                <a:tab pos="6778625" algn="l"/>
                <a:tab pos="7487284" algn="l"/>
                <a:tab pos="829627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To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achieve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security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certain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details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only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show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(interface).</a:t>
            </a:r>
            <a:endParaRPr sz="24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575"/>
              </a:spcBef>
              <a:buFont typeface="Times New Roman"/>
              <a:buAutoNum type="arabicParenR"/>
              <a:tabLst>
                <a:tab pos="374650" algn="l"/>
              </a:tabLst>
            </a:pPr>
            <a:r>
              <a:rPr sz="2400" b="1" dirty="0">
                <a:latin typeface="Times New Roman"/>
                <a:cs typeface="Times New Roman"/>
              </a:rPr>
              <a:t>Java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does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support</a:t>
            </a:r>
            <a:r>
              <a:rPr sz="2400" b="1" spc="2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"multiple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inheritance"</a:t>
            </a:r>
            <a:r>
              <a:rPr sz="2400" b="1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only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inherit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superclass).</a:t>
            </a:r>
            <a:endParaRPr sz="2400">
              <a:latin typeface="Times New Roman"/>
              <a:cs typeface="Times New Roman"/>
            </a:endParaRPr>
          </a:p>
          <a:p>
            <a:pPr marL="355600" marR="5080" lvl="1" indent="-342900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However,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interfaces,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interfaces.</a:t>
            </a:r>
            <a:endParaRPr sz="24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354965" algn="l"/>
                <a:tab pos="1216660" algn="l"/>
                <a:tab pos="1715135" algn="l"/>
                <a:tab pos="3197860" algn="l"/>
                <a:tab pos="4394200" algn="l"/>
                <a:tab pos="5836285" algn="l"/>
                <a:tab pos="7018020" algn="l"/>
                <a:tab pos="7808595" algn="l"/>
                <a:tab pos="8534400" algn="l"/>
              </a:tabLst>
            </a:pPr>
            <a:r>
              <a:rPr sz="2400" spc="-10" dirty="0">
                <a:latin typeface="Times New Roman"/>
                <a:cs typeface="Times New Roman"/>
              </a:rPr>
              <a:t>Note: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implement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multiple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interfaces,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separate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3298317"/>
            <a:ext cx="2224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comma.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39657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" y="3681221"/>
            <a:ext cx="3124200" cy="268224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2286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00"/>
              </a:spcBef>
            </a:pPr>
            <a:r>
              <a:rPr sz="1800" b="1" spc="-10" dirty="0">
                <a:latin typeface="Calibri"/>
                <a:cs typeface="Calibri"/>
              </a:rPr>
              <a:t>interface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FirstInterface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myMethod();</a:t>
            </a:r>
            <a:endParaRPr sz="1800">
              <a:latin typeface="Calibri"/>
              <a:cs typeface="Calibri"/>
            </a:endParaRPr>
          </a:p>
          <a:p>
            <a:pPr marL="1422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interface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SecondInterface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myOtherMethod();</a:t>
            </a:r>
            <a:endParaRPr sz="1800">
              <a:latin typeface="Calibri"/>
              <a:cs typeface="Calibri"/>
            </a:endParaRPr>
          </a:p>
          <a:p>
            <a:pPr marL="1422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84473" y="3417061"/>
            <a:ext cx="5872480" cy="3453765"/>
            <a:chOff x="3284473" y="3417061"/>
            <a:chExt cx="5872480" cy="3453765"/>
          </a:xfrm>
        </p:grpSpPr>
        <p:sp>
          <p:nvSpPr>
            <p:cNvPr id="8" name="object 8"/>
            <p:cNvSpPr/>
            <p:nvPr/>
          </p:nvSpPr>
          <p:spPr>
            <a:xfrm>
              <a:off x="3297173" y="3429761"/>
              <a:ext cx="5847080" cy="3428365"/>
            </a:xfrm>
            <a:custGeom>
              <a:avLst/>
              <a:gdLst/>
              <a:ahLst/>
              <a:cxnLst/>
              <a:rect l="l" t="t" r="r" b="b"/>
              <a:pathLst>
                <a:path w="5847080" h="3428365">
                  <a:moveTo>
                    <a:pt x="5846825" y="0"/>
                  </a:moveTo>
                  <a:lnTo>
                    <a:pt x="0" y="0"/>
                  </a:lnTo>
                  <a:lnTo>
                    <a:pt x="0" y="3428235"/>
                  </a:lnTo>
                  <a:lnTo>
                    <a:pt x="5846825" y="3428235"/>
                  </a:lnTo>
                  <a:lnTo>
                    <a:pt x="5846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97173" y="3429761"/>
              <a:ext cx="5847080" cy="3428365"/>
            </a:xfrm>
            <a:custGeom>
              <a:avLst/>
              <a:gdLst/>
              <a:ahLst/>
              <a:cxnLst/>
              <a:rect l="l" t="t" r="r" b="b"/>
              <a:pathLst>
                <a:path w="5847080" h="3428365">
                  <a:moveTo>
                    <a:pt x="5846825" y="0"/>
                  </a:moveTo>
                  <a:lnTo>
                    <a:pt x="0" y="0"/>
                  </a:lnTo>
                  <a:lnTo>
                    <a:pt x="0" y="3428235"/>
                  </a:lnTo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74897" y="3470529"/>
            <a:ext cx="570674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DemoClass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implements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504D"/>
                </a:solidFill>
                <a:latin typeface="Calibri"/>
                <a:cs typeface="Calibri"/>
              </a:rPr>
              <a:t>FirstInterface,</a:t>
            </a:r>
            <a:r>
              <a:rPr sz="1800" spc="-4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504D"/>
                </a:solidFill>
                <a:latin typeface="Calibri"/>
                <a:cs typeface="Calibri"/>
              </a:rPr>
              <a:t>SecondInterface</a:t>
            </a:r>
            <a:r>
              <a:rPr sz="1800" spc="-4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public</a:t>
            </a:r>
            <a:r>
              <a:rPr sz="18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void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myMethod()</a:t>
            </a:r>
            <a:r>
              <a:rPr sz="18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AF50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System.out.println("Some</a:t>
            </a:r>
            <a:r>
              <a:rPr sz="1800" spc="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text..");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50" dirty="0">
                <a:solidFill>
                  <a:srgbClr val="00AF50"/>
                </a:solidFill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220979" marR="1707514" indent="-104139">
              <a:lnSpc>
                <a:spcPct val="10000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public</a:t>
            </a:r>
            <a:r>
              <a:rPr sz="18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void</a:t>
            </a:r>
            <a:r>
              <a:rPr sz="18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myOtherMethod()</a:t>
            </a:r>
            <a:r>
              <a:rPr sz="18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AF50"/>
                </a:solidFill>
                <a:latin typeface="Calibri"/>
                <a:cs typeface="Calibri"/>
              </a:rPr>
              <a:t>{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System.out.println("Some</a:t>
            </a:r>
            <a:r>
              <a:rPr sz="1800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other</a:t>
            </a:r>
            <a:r>
              <a:rPr sz="1800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alibri"/>
                <a:cs typeface="Calibri"/>
              </a:rPr>
              <a:t>text...");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}</a:t>
            </a:r>
            <a:r>
              <a:rPr sz="1800" spc="-25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20979" marR="1907539" indent="-104139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void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main(String[]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args)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DemoClass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myObj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DemoClass(); </a:t>
            </a:r>
            <a:r>
              <a:rPr sz="1800" spc="-10" dirty="0">
                <a:latin typeface="Calibri"/>
                <a:cs typeface="Calibri"/>
              </a:rPr>
              <a:t>myObj.myMethod(); </a:t>
            </a:r>
            <a:r>
              <a:rPr sz="1800" dirty="0">
                <a:latin typeface="Calibri"/>
                <a:cs typeface="Calibri"/>
              </a:rPr>
              <a:t>myObj.myOtherMethod();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}}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6957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62911" y="2261616"/>
            <a:ext cx="4860925" cy="2876550"/>
            <a:chOff x="1962911" y="2261616"/>
            <a:chExt cx="4860925" cy="2876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113" y="2418372"/>
              <a:ext cx="1979197" cy="9095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4261" y="2435098"/>
              <a:ext cx="1934648" cy="8627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2261616"/>
              <a:ext cx="4860797" cy="28765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5946" y="2827528"/>
              <a:ext cx="3488971" cy="1530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</TotalTime>
  <Words>5262</Words>
  <Application>Microsoft Office PowerPoint</Application>
  <PresentationFormat>On-screen Show (4:3)</PresentationFormat>
  <Paragraphs>682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 MT</vt:lpstr>
      <vt:lpstr>Calibri</vt:lpstr>
      <vt:lpstr>Constantia</vt:lpstr>
      <vt:lpstr>Courier New</vt:lpstr>
      <vt:lpstr>Times New Roman</vt:lpstr>
      <vt:lpstr>Wingdings</vt:lpstr>
      <vt:lpstr>Office Theme</vt:lpstr>
      <vt:lpstr>hapter 3</vt:lpstr>
      <vt:lpstr>Inheritance</vt:lpstr>
      <vt:lpstr>Super classes and Subclasses</vt:lpstr>
      <vt:lpstr>Cont…</vt:lpstr>
      <vt:lpstr>Cont..</vt:lpstr>
      <vt:lpstr>Super classes and Subclasses</vt:lpstr>
      <vt:lpstr>GeometricObject Superclass</vt:lpstr>
      <vt:lpstr>GeometricObject Superclass</vt:lpstr>
      <vt:lpstr>Circle Subclass</vt:lpstr>
      <vt:lpstr>Circle Subclass</vt:lpstr>
      <vt:lpstr>Circle Subclass</vt:lpstr>
      <vt:lpstr>Circle Subclass</vt:lpstr>
      <vt:lpstr>Rectangle Subclass</vt:lpstr>
      <vt:lpstr>Rectangle Subclass</vt:lpstr>
      <vt:lpstr>Rectangle Subclass</vt:lpstr>
      <vt:lpstr>Rectangle Subclass</vt:lpstr>
      <vt:lpstr>TestCircleRectangle Class</vt:lpstr>
      <vt:lpstr>Dog Class</vt:lpstr>
      <vt:lpstr>Cat Class</vt:lpstr>
      <vt:lpstr>Problem: Code Duplication</vt:lpstr>
      <vt:lpstr>Solution: Inheritance</vt:lpstr>
      <vt:lpstr>PowerPoint Presentation</vt:lpstr>
      <vt:lpstr>Animal Superclass</vt:lpstr>
      <vt:lpstr>Dog Subclass</vt:lpstr>
      <vt:lpstr>Cat Subclass</vt:lpstr>
      <vt:lpstr>Types of inheritance</vt:lpstr>
      <vt:lpstr>Inheritance Types</vt:lpstr>
      <vt:lpstr>Method Overriding and Overloading</vt:lpstr>
      <vt:lpstr>Method Overriding</vt:lpstr>
      <vt:lpstr>Overriding Methods</vt:lpstr>
      <vt:lpstr>Method Overloading</vt:lpstr>
      <vt:lpstr>Method Overloading</vt:lpstr>
      <vt:lpstr>Overriding vs. Overloading</vt:lpstr>
      <vt:lpstr>Overriding vs. Overloading</vt:lpstr>
      <vt:lpstr>Overriding vs. Overloading</vt:lpstr>
      <vt:lpstr>Overriding vs. Overloading</vt:lpstr>
      <vt:lpstr>Cont..</vt:lpstr>
      <vt:lpstr>super Keyword in java</vt:lpstr>
      <vt:lpstr>Cont…</vt:lpstr>
      <vt:lpstr>Cont…</vt:lpstr>
      <vt:lpstr>Chapter 4 Polymorphism abstract class and interface</vt:lpstr>
      <vt:lpstr>Polymorphism</vt:lpstr>
      <vt:lpstr>Polymorphism</vt:lpstr>
      <vt:lpstr>Cont… Example: Compile-time polymorphism</vt:lpstr>
      <vt:lpstr>Polymorphism</vt:lpstr>
      <vt:lpstr>Cont…</vt:lpstr>
      <vt:lpstr>The Abstract Class</vt:lpstr>
      <vt:lpstr>Cont….</vt:lpstr>
      <vt:lpstr>    </vt:lpstr>
      <vt:lpstr>  </vt:lpstr>
      <vt:lpstr> Abstract Classes and Abstract Methods </vt:lpstr>
      <vt:lpstr>Abstract Classes and Abstract Methods  </vt:lpstr>
      <vt:lpstr>Abstract Classes and Abstract Methods  </vt:lpstr>
      <vt:lpstr>Abstract Classes and Abstract Methods  </vt:lpstr>
      <vt:lpstr>Cont… </vt:lpstr>
      <vt:lpstr>Cont….</vt:lpstr>
      <vt:lpstr>Cont….</vt:lpstr>
      <vt:lpstr>Interface in Java</vt:lpstr>
      <vt:lpstr>key characteristics of Interface in Java</vt:lpstr>
      <vt:lpstr>Interface in Java example</vt:lpstr>
      <vt:lpstr>Why And When To Use Interfaces?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hapter 3</dc:title>
  <cp:lastModifiedBy>abe</cp:lastModifiedBy>
  <cp:revision>19</cp:revision>
  <dcterms:created xsi:type="dcterms:W3CDTF">2024-02-26T06:35:49Z</dcterms:created>
  <dcterms:modified xsi:type="dcterms:W3CDTF">2024-03-26T11:05:59Z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2024-02-26T00:00:00Z</vt:filetime>
  </property>
  <property fmtid="{D5CDD505-2E9C-101B-9397-08002B2CF9AE}" pid="3" name="Producer">
    <vt:lpwstr>3-Heights™ PDF Merge Split Shell 6.12.1.11 (http://www.pdf-tools.com)</vt:lpwstr>
  </property>
</Properties>
</file>